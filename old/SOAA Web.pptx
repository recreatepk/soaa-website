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8" r:id="rId4"/>
    <p:sldId id="259" r:id="rId5"/>
    <p:sldId id="269" r:id="rId6"/>
    <p:sldId id="257" r:id="rId7"/>
    <p:sldId id="258" r:id="rId8"/>
    <p:sldId id="263" r:id="rId9"/>
    <p:sldId id="267" r:id="rId10"/>
    <p:sldId id="266" r:id="rId11"/>
    <p:sldId id="264" r:id="rId12"/>
    <p:sldId id="262" r:id="rId13"/>
    <p:sldId id="265" r:id="rId14"/>
    <p:sldId id="261"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7" autoAdjust="0"/>
    <p:restoredTop sz="94434" autoAdjust="0"/>
  </p:normalViewPr>
  <p:slideViewPr>
    <p:cSldViewPr snapToGrid="0">
      <p:cViewPr varScale="1">
        <p:scale>
          <a:sx n="70" d="100"/>
          <a:sy n="70"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4F2872-0FD2-4226-BBF2-E759C0A4A0F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321307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F2872-0FD2-4226-BBF2-E759C0A4A0F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2079926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4F2872-0FD2-4226-BBF2-E759C0A4A0F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3622387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4F2872-0FD2-4226-BBF2-E759C0A4A0F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4204573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34F2872-0FD2-4226-BBF2-E759C0A4A0F4}"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1866820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4F2872-0FD2-4226-BBF2-E759C0A4A0F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33128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F2872-0FD2-4226-BBF2-E759C0A4A0F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5853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F2872-0FD2-4226-BBF2-E759C0A4A0F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59479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F2872-0FD2-4226-BBF2-E759C0A4A0F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284576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F2872-0FD2-4226-BBF2-E759C0A4A0F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257898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F2872-0FD2-4226-BBF2-E759C0A4A0F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128B9-F2CA-434C-AEEC-2A0F467A8A0B}" type="slidenum">
              <a:rPr lang="en-US" smtClean="0"/>
              <a:t>‹#›</a:t>
            </a:fld>
            <a:endParaRPr lang="en-US"/>
          </a:p>
        </p:txBody>
      </p:sp>
    </p:spTree>
    <p:extLst>
      <p:ext uri="{BB962C8B-B14F-4D97-AF65-F5344CB8AC3E}">
        <p14:creationId xmlns:p14="http://schemas.microsoft.com/office/powerpoint/2010/main" val="37118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F2872-0FD2-4226-BBF2-E759C0A4A0F4}" type="datetimeFigureOut">
              <a:rPr lang="en-US" smtClean="0"/>
              <a:t>4/6/2026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F128B9-F2CA-434C-AEEC-2A0F467A8A0B}" type="slidenum">
              <a:rPr lang="en-US" smtClean="0"/>
              <a:t>‹#›</a:t>
            </a:fld>
            <a:endParaRPr lang="en-US"/>
          </a:p>
        </p:txBody>
      </p:sp>
    </p:spTree>
    <p:extLst>
      <p:ext uri="{BB962C8B-B14F-4D97-AF65-F5344CB8AC3E}">
        <p14:creationId xmlns:p14="http://schemas.microsoft.com/office/powerpoint/2010/main" val="2878179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fo@soaa.pk" TargetMode="External"/><Relationship Id="rId2" Type="http://schemas.openxmlformats.org/officeDocument/2006/relationships/hyperlink" Target="http://www.soaa.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3792" y="579549"/>
            <a:ext cx="2459864" cy="1477328"/>
          </a:xfrm>
          <a:prstGeom prst="rect">
            <a:avLst/>
          </a:prstGeom>
          <a:noFill/>
        </p:spPr>
        <p:txBody>
          <a:bodyPr wrap="square" rtlCol="0">
            <a:spAutoFit/>
          </a:bodyPr>
          <a:lstStyle/>
          <a:p>
            <a:r>
              <a:rPr lang="en-US" b="1" dirty="0" smtClean="0"/>
              <a:t>About Us:</a:t>
            </a:r>
          </a:p>
          <a:p>
            <a:pPr marL="342900" indent="-342900">
              <a:buAutoNum type="arabicPeriod"/>
            </a:pPr>
            <a:r>
              <a:rPr lang="en-US" dirty="0" smtClean="0"/>
              <a:t>Leadership</a:t>
            </a:r>
          </a:p>
          <a:p>
            <a:pPr marL="342900" indent="-342900">
              <a:buAutoNum type="arabicPeriod"/>
            </a:pPr>
            <a:r>
              <a:rPr lang="en-US" dirty="0" smtClean="0"/>
              <a:t>Committees</a:t>
            </a:r>
            <a:endParaRPr lang="en-US" dirty="0"/>
          </a:p>
          <a:p>
            <a:pPr marL="342900" indent="-342900">
              <a:buAutoNum type="arabicPeriod"/>
            </a:pPr>
            <a:endParaRPr lang="en-US" dirty="0"/>
          </a:p>
          <a:p>
            <a:pPr marL="342900" indent="-342900">
              <a:buFont typeface="Arial" panose="020B0604020202020204" pitchFamily="34" charset="0"/>
              <a:buChar char="•"/>
            </a:pPr>
            <a:endParaRPr lang="en-US" dirty="0"/>
          </a:p>
        </p:txBody>
      </p:sp>
      <p:sp>
        <p:nvSpPr>
          <p:cNvPr id="3" name="TextBox 2"/>
          <p:cNvSpPr txBox="1"/>
          <p:nvPr/>
        </p:nvSpPr>
        <p:spPr>
          <a:xfrm>
            <a:off x="3013656" y="579549"/>
            <a:ext cx="2459864" cy="2308324"/>
          </a:xfrm>
          <a:prstGeom prst="rect">
            <a:avLst/>
          </a:prstGeom>
          <a:noFill/>
        </p:spPr>
        <p:txBody>
          <a:bodyPr wrap="square" rtlCol="0">
            <a:spAutoFit/>
          </a:bodyPr>
          <a:lstStyle/>
          <a:p>
            <a:r>
              <a:rPr lang="en-US" b="1" dirty="0" smtClean="0"/>
              <a:t>Member Area:</a:t>
            </a:r>
          </a:p>
          <a:p>
            <a:pPr marL="342900" indent="-342900">
              <a:buAutoNum type="arabicPeriod"/>
            </a:pPr>
            <a:r>
              <a:rPr lang="en-US" dirty="0" smtClean="0"/>
              <a:t>Create Account</a:t>
            </a:r>
          </a:p>
          <a:p>
            <a:pPr marL="342900" indent="-342900">
              <a:buAutoNum type="arabicPeriod"/>
            </a:pPr>
            <a:r>
              <a:rPr lang="en-US" dirty="0" smtClean="0"/>
              <a:t>Become a Member</a:t>
            </a:r>
          </a:p>
          <a:p>
            <a:pPr marL="342900" indent="-342900">
              <a:buAutoNum type="arabicPeriod"/>
            </a:pPr>
            <a:r>
              <a:rPr lang="en-US" dirty="0" smtClean="0"/>
              <a:t>Member Benefit</a:t>
            </a:r>
          </a:p>
          <a:p>
            <a:pPr marL="342900" indent="-342900">
              <a:buAutoNum type="arabicPeriod"/>
            </a:pPr>
            <a:r>
              <a:rPr lang="en-US" dirty="0" smtClean="0"/>
              <a:t>Member Portal</a:t>
            </a:r>
          </a:p>
          <a:p>
            <a:pPr marL="342900" indent="-342900">
              <a:buFont typeface="Arial" panose="020B0604020202020204" pitchFamily="34" charset="0"/>
              <a:buChar char="•"/>
            </a:pPr>
            <a:r>
              <a:rPr lang="en-US" dirty="0" smtClean="0"/>
              <a:t>Update Profile</a:t>
            </a:r>
          </a:p>
          <a:p>
            <a:pPr marL="342900" indent="-342900">
              <a:buFont typeface="Arial" panose="020B0604020202020204" pitchFamily="34" charset="0"/>
              <a:buChar char="•"/>
            </a:pPr>
            <a:r>
              <a:rPr lang="en-US" dirty="0" smtClean="0"/>
              <a:t>Online Arbitration</a:t>
            </a:r>
          </a:p>
          <a:p>
            <a:pPr marL="342900" indent="-342900">
              <a:buFont typeface="Arial" panose="020B0604020202020204" pitchFamily="34" charset="0"/>
              <a:buChar char="•"/>
            </a:pPr>
            <a:r>
              <a:rPr lang="en-US" dirty="0" smtClean="0"/>
              <a:t>Update Media</a:t>
            </a:r>
            <a:endParaRPr lang="en-US" dirty="0"/>
          </a:p>
        </p:txBody>
      </p:sp>
      <p:sp>
        <p:nvSpPr>
          <p:cNvPr id="4" name="TextBox 3"/>
          <p:cNvSpPr txBox="1"/>
          <p:nvPr/>
        </p:nvSpPr>
        <p:spPr>
          <a:xfrm>
            <a:off x="5771882" y="541771"/>
            <a:ext cx="2887013" cy="2308324"/>
          </a:xfrm>
          <a:prstGeom prst="rect">
            <a:avLst/>
          </a:prstGeom>
          <a:noFill/>
        </p:spPr>
        <p:txBody>
          <a:bodyPr wrap="square" rtlCol="0">
            <a:spAutoFit/>
          </a:bodyPr>
          <a:lstStyle/>
          <a:p>
            <a:r>
              <a:rPr lang="en-US" b="1" dirty="0" smtClean="0"/>
              <a:t>News &amp; Event:</a:t>
            </a:r>
          </a:p>
          <a:p>
            <a:pPr marL="342900" indent="-342900">
              <a:buAutoNum type="arabicPeriod"/>
            </a:pPr>
            <a:r>
              <a:rPr lang="en-US" dirty="0" smtClean="0"/>
              <a:t>News &amp; Press Release</a:t>
            </a:r>
          </a:p>
          <a:p>
            <a:pPr marL="342900" indent="-342900">
              <a:buAutoNum type="arabicPeriod"/>
            </a:pPr>
            <a:r>
              <a:rPr lang="en-US" dirty="0" smtClean="0"/>
              <a:t>Events</a:t>
            </a:r>
          </a:p>
          <a:p>
            <a:pPr marL="342900" indent="-342900">
              <a:buAutoNum type="arabicPeriod"/>
            </a:pPr>
            <a:r>
              <a:rPr lang="en-US" dirty="0" smtClean="0"/>
              <a:t>Awards</a:t>
            </a:r>
          </a:p>
          <a:p>
            <a:pPr marL="342900" indent="-342900">
              <a:buAutoNum type="arabicPeriod"/>
            </a:pPr>
            <a:r>
              <a:rPr lang="en-US" dirty="0" smtClean="0"/>
              <a:t>OOH Media Conference</a:t>
            </a:r>
          </a:p>
          <a:p>
            <a:pPr marL="342900" indent="-342900">
              <a:buAutoNum type="arabicPeriod"/>
            </a:pPr>
            <a:endParaRPr lang="en-US" dirty="0"/>
          </a:p>
          <a:p>
            <a:pPr marL="342900" indent="-342900">
              <a:buAutoNum type="arabicPeriod"/>
            </a:pPr>
            <a:endParaRPr lang="en-US" dirty="0"/>
          </a:p>
          <a:p>
            <a:pPr marL="342900" indent="-342900">
              <a:buFont typeface="Arial" panose="020B0604020202020204" pitchFamily="34" charset="0"/>
              <a:buChar char="•"/>
            </a:pPr>
            <a:endParaRPr lang="en-US" dirty="0"/>
          </a:p>
        </p:txBody>
      </p:sp>
      <p:sp>
        <p:nvSpPr>
          <p:cNvPr id="5" name="TextBox 4"/>
          <p:cNvSpPr txBox="1"/>
          <p:nvPr/>
        </p:nvSpPr>
        <p:spPr>
          <a:xfrm>
            <a:off x="8867105" y="541771"/>
            <a:ext cx="2887013" cy="2585323"/>
          </a:xfrm>
          <a:prstGeom prst="rect">
            <a:avLst/>
          </a:prstGeom>
          <a:noFill/>
        </p:spPr>
        <p:txBody>
          <a:bodyPr wrap="square" rtlCol="0">
            <a:spAutoFit/>
          </a:bodyPr>
          <a:lstStyle/>
          <a:p>
            <a:r>
              <a:rPr lang="en-US" b="1" dirty="0" smtClean="0"/>
              <a:t>Connect:</a:t>
            </a:r>
          </a:p>
          <a:p>
            <a:pPr marL="342900" indent="-342900">
              <a:buAutoNum type="arabicPeriod"/>
            </a:pPr>
            <a:r>
              <a:rPr lang="en-US" dirty="0" smtClean="0"/>
              <a:t>Active Member Directory</a:t>
            </a:r>
          </a:p>
          <a:p>
            <a:pPr marL="342900" indent="-342900">
              <a:buAutoNum type="arabicPeriod"/>
            </a:pPr>
            <a:r>
              <a:rPr lang="en-US" dirty="0" smtClean="0"/>
              <a:t>Advertiser Benefit</a:t>
            </a:r>
          </a:p>
          <a:p>
            <a:pPr marL="342900" indent="-342900">
              <a:buAutoNum type="arabicPeriod"/>
            </a:pPr>
            <a:r>
              <a:rPr lang="en-US" dirty="0" smtClean="0"/>
              <a:t>Member OOH Media</a:t>
            </a:r>
          </a:p>
          <a:p>
            <a:pPr marL="342900" indent="-342900">
              <a:buAutoNum type="arabicPeriod"/>
            </a:pPr>
            <a:r>
              <a:rPr lang="en-US" dirty="0" smtClean="0"/>
              <a:t>OMA’s Rating</a:t>
            </a:r>
          </a:p>
          <a:p>
            <a:pPr marL="342900" indent="-342900">
              <a:buAutoNum type="arabicPeriod"/>
            </a:pPr>
            <a:r>
              <a:rPr lang="en-US" dirty="0" smtClean="0"/>
              <a:t>OOH Research</a:t>
            </a:r>
          </a:p>
          <a:p>
            <a:pPr marL="342900" indent="-342900">
              <a:buAutoNum type="arabicPeriod"/>
            </a:pPr>
            <a:r>
              <a:rPr lang="en-US" dirty="0" smtClean="0"/>
              <a:t>Complaint &amp; Suggestion</a:t>
            </a:r>
          </a:p>
          <a:p>
            <a:pPr marL="342900" indent="-342900">
              <a:buAutoNum type="arabicPeriod"/>
            </a:pPr>
            <a:r>
              <a:rPr lang="en-US" dirty="0" smtClean="0"/>
              <a:t>Blog's</a:t>
            </a:r>
            <a:endParaRPr lang="en-US" dirty="0"/>
          </a:p>
          <a:p>
            <a:endParaRPr lang="en-US" dirty="0"/>
          </a:p>
        </p:txBody>
      </p:sp>
      <p:sp>
        <p:nvSpPr>
          <p:cNvPr id="7" name="TextBox 6"/>
          <p:cNvSpPr txBox="1"/>
          <p:nvPr/>
        </p:nvSpPr>
        <p:spPr>
          <a:xfrm>
            <a:off x="553792" y="3127094"/>
            <a:ext cx="2887013" cy="1477328"/>
          </a:xfrm>
          <a:prstGeom prst="rect">
            <a:avLst/>
          </a:prstGeom>
          <a:noFill/>
        </p:spPr>
        <p:txBody>
          <a:bodyPr wrap="square" rtlCol="0">
            <a:spAutoFit/>
          </a:bodyPr>
          <a:lstStyle/>
          <a:p>
            <a:r>
              <a:rPr lang="en-US" b="1" dirty="0" smtClean="0"/>
              <a:t>Contact Us:</a:t>
            </a:r>
          </a:p>
          <a:p>
            <a:r>
              <a:rPr lang="en-US" b="1" dirty="0" smtClean="0">
                <a:hlinkClick r:id="rId2"/>
              </a:rPr>
              <a:t>www.soaa.pk</a:t>
            </a:r>
            <a:endParaRPr lang="en-US" b="1" dirty="0" smtClean="0"/>
          </a:p>
          <a:p>
            <a:r>
              <a:rPr lang="en-US" b="1" dirty="0" smtClean="0">
                <a:hlinkClick r:id="rId3"/>
              </a:rPr>
              <a:t>info@soaa.pk</a:t>
            </a:r>
            <a:endParaRPr lang="en-US" b="1" dirty="0" smtClean="0"/>
          </a:p>
          <a:p>
            <a:r>
              <a:rPr lang="en-US" b="1" dirty="0" smtClean="0"/>
              <a:t>UAN: +92 21 111-111-523</a:t>
            </a:r>
            <a:endParaRPr lang="en-US" dirty="0"/>
          </a:p>
          <a:p>
            <a:endParaRPr lang="en-US" dirty="0"/>
          </a:p>
        </p:txBody>
      </p:sp>
    </p:spTree>
    <p:extLst>
      <p:ext uri="{BB962C8B-B14F-4D97-AF65-F5344CB8AC3E}">
        <p14:creationId xmlns:p14="http://schemas.microsoft.com/office/powerpoint/2010/main" val="24650690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7700" r="1014" b="2347"/>
          <a:stretch/>
        </p:blipFill>
        <p:spPr>
          <a:xfrm>
            <a:off x="0" y="689020"/>
            <a:ext cx="4571606" cy="6168980"/>
          </a:xfrm>
          <a:prstGeom prst="rect">
            <a:avLst/>
          </a:prstGeom>
        </p:spPr>
      </p:pic>
      <p:sp>
        <p:nvSpPr>
          <p:cNvPr id="6" name="Rectangle 5"/>
          <p:cNvSpPr/>
          <p:nvPr/>
        </p:nvSpPr>
        <p:spPr>
          <a:xfrm>
            <a:off x="4863921" y="1379577"/>
            <a:ext cx="7328079" cy="5262979"/>
          </a:xfrm>
          <a:prstGeom prst="rect">
            <a:avLst/>
          </a:prstGeom>
        </p:spPr>
        <p:txBody>
          <a:bodyPr wrap="square">
            <a:spAutoFit/>
          </a:bodyPr>
          <a:lstStyle/>
          <a:p>
            <a:pPr algn="just"/>
            <a:endParaRPr lang="en-US" sz="1400" dirty="0" smtClean="0"/>
          </a:p>
          <a:p>
            <a:pPr algn="just"/>
            <a:r>
              <a:rPr lang="en-US" sz="1400" dirty="0" smtClean="0"/>
              <a:t>“Voices on Every Wall.”</a:t>
            </a:r>
          </a:p>
          <a:p>
            <a:pPr algn="just"/>
            <a:r>
              <a:rPr lang="en-US" sz="1400" dirty="0" smtClean="0"/>
              <a:t>Sindh Outdoor Advertisers Association (SOAA)</a:t>
            </a:r>
          </a:p>
          <a:p>
            <a:pPr algn="just"/>
            <a:endParaRPr lang="en-US" sz="1400" dirty="0"/>
          </a:p>
          <a:p>
            <a:pPr algn="just"/>
            <a:r>
              <a:rPr lang="en-US" sz="1400" dirty="0" smtClean="0"/>
              <a:t>Outdoor isn’t just advertising — it’s storytelling on the streets.</a:t>
            </a:r>
          </a:p>
          <a:p>
            <a:pPr algn="just"/>
            <a:endParaRPr lang="en-US" sz="1400" dirty="0"/>
          </a:p>
          <a:p>
            <a:pPr algn="just"/>
            <a:r>
              <a:rPr lang="en-US" sz="1400" dirty="0" smtClean="0"/>
              <a:t>At SOAA, we see billboards as more than space. We see potential. Our skyline is our canvas, and our mission is to make sure that every square foot of it speaks with clarity, creativity, and purpose.</a:t>
            </a:r>
          </a:p>
          <a:p>
            <a:pPr algn="just"/>
            <a:endParaRPr lang="en-US" sz="1400" dirty="0"/>
          </a:p>
          <a:p>
            <a:pPr algn="just"/>
            <a:r>
              <a:rPr lang="en-US" sz="1400" dirty="0" smtClean="0"/>
              <a:t>As President of the Sindh Outdoor Advertisers Association, I’m proud to lead a community of innovators, strategists, and visionaries who understand the power of public space. Together, we’re reimagining what outdoor media can be — smarter, cleaner, more responsible, and deeply connected to the pulse of the city.</a:t>
            </a:r>
          </a:p>
          <a:p>
            <a:pPr algn="just"/>
            <a:endParaRPr lang="en-US" sz="1400" dirty="0"/>
          </a:p>
          <a:p>
            <a:pPr algn="just"/>
            <a:r>
              <a:rPr lang="en-US" sz="1400" dirty="0" smtClean="0"/>
              <a:t>We stand at the intersection of business and art, policy and progress. From traditional hoardings to digital takeovers, from wall murals to street-level activations — SOAA is shaping how messages meet people in motion.</a:t>
            </a:r>
          </a:p>
          <a:p>
            <a:pPr algn="just"/>
            <a:endParaRPr lang="en-US" sz="1400" dirty="0"/>
          </a:p>
          <a:p>
            <a:pPr algn="just"/>
            <a:r>
              <a:rPr lang="en-US" sz="1400" dirty="0" smtClean="0"/>
              <a:t>Thank you for being part of this journey. The streets are alive, and the future is wide open.</a:t>
            </a:r>
          </a:p>
          <a:p>
            <a:pPr algn="just"/>
            <a:endParaRPr lang="en-US" sz="1400" dirty="0"/>
          </a:p>
          <a:p>
            <a:pPr algn="just"/>
            <a:r>
              <a:rPr lang="en-US" sz="1400" dirty="0" smtClean="0"/>
              <a:t>Stay bold,</a:t>
            </a:r>
          </a:p>
          <a:p>
            <a:pPr algn="just"/>
            <a:endParaRPr lang="en-US" sz="1400" dirty="0"/>
          </a:p>
          <a:p>
            <a:pPr algn="just"/>
            <a:r>
              <a:rPr lang="en-US" sz="1400" dirty="0" smtClean="0"/>
              <a:t>Aamir Siddiqui President</a:t>
            </a:r>
          </a:p>
          <a:p>
            <a:pPr algn="just"/>
            <a:r>
              <a:rPr lang="en-US" sz="1400" dirty="0" smtClean="0"/>
              <a:t>Sindh Outdoor Advertisers Association (SOAA)</a:t>
            </a:r>
            <a:endParaRPr lang="en-US" sz="1400" dirty="0"/>
          </a:p>
        </p:txBody>
      </p:sp>
      <p:sp>
        <p:nvSpPr>
          <p:cNvPr id="7" name="Rectangle 6"/>
          <p:cNvSpPr/>
          <p:nvPr/>
        </p:nvSpPr>
        <p:spPr>
          <a:xfrm>
            <a:off x="3830540" y="319688"/>
            <a:ext cx="3574055" cy="584775"/>
          </a:xfrm>
          <a:prstGeom prst="rect">
            <a:avLst/>
          </a:prstGeom>
        </p:spPr>
        <p:txBody>
          <a:bodyPr wrap="none">
            <a:spAutoFit/>
          </a:bodyPr>
          <a:lstStyle/>
          <a:p>
            <a:pPr algn="just"/>
            <a:r>
              <a:rPr lang="en-US" sz="3200" dirty="0" smtClean="0"/>
              <a:t>President’s Message</a:t>
            </a:r>
          </a:p>
        </p:txBody>
      </p:sp>
    </p:spTree>
    <p:extLst>
      <p:ext uri="{BB962C8B-B14F-4D97-AF65-F5344CB8AC3E}">
        <p14:creationId xmlns:p14="http://schemas.microsoft.com/office/powerpoint/2010/main" val="13227906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92674" y="319688"/>
            <a:ext cx="3449791" cy="584775"/>
          </a:xfrm>
          <a:prstGeom prst="rect">
            <a:avLst/>
          </a:prstGeom>
        </p:spPr>
        <p:txBody>
          <a:bodyPr wrap="none">
            <a:spAutoFit/>
          </a:bodyPr>
          <a:lstStyle/>
          <a:p>
            <a:pPr algn="just"/>
            <a:r>
              <a:rPr lang="en-US" sz="3200" dirty="0" smtClean="0"/>
              <a:t>Chairman Message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06" y="890960"/>
            <a:ext cx="3957826" cy="5967040"/>
          </a:xfrm>
          <a:prstGeom prst="rect">
            <a:avLst/>
          </a:prstGeom>
        </p:spPr>
      </p:pic>
      <p:sp>
        <p:nvSpPr>
          <p:cNvPr id="8" name="Rectangle 7"/>
          <p:cNvSpPr/>
          <p:nvPr/>
        </p:nvSpPr>
        <p:spPr>
          <a:xfrm>
            <a:off x="4863921" y="1379577"/>
            <a:ext cx="7328079" cy="3323987"/>
          </a:xfrm>
          <a:prstGeom prst="rect">
            <a:avLst/>
          </a:prstGeom>
        </p:spPr>
        <p:txBody>
          <a:bodyPr wrap="square">
            <a:spAutoFit/>
          </a:bodyPr>
          <a:lstStyle/>
          <a:p>
            <a:pPr algn="just"/>
            <a:r>
              <a:rPr lang="en-US" sz="1400" dirty="0"/>
              <a:t>After serving this industry for 30 years, I’ve witnessed it rise to success and collapse to rock bottom — not once but multiple times. Poor law and order, broken payment cycles, and mismanagement have pushed many hardworking advertisers to the edge. My vision for these two years is clear: to restore financial stability, secure smoother payment flows, and protect the working rights of every advertiser</a:t>
            </a:r>
            <a:r>
              <a:rPr lang="en-US" sz="1400" dirty="0" smtClean="0"/>
              <a:t>.</a:t>
            </a:r>
          </a:p>
          <a:p>
            <a:pPr algn="just"/>
            <a:endParaRPr lang="en-US" sz="1400" dirty="0"/>
          </a:p>
          <a:p>
            <a:pPr algn="just"/>
            <a:r>
              <a:rPr lang="en-US" sz="1400" dirty="0" smtClean="0"/>
              <a:t>At </a:t>
            </a:r>
            <a:r>
              <a:rPr lang="en-US" sz="1400" dirty="0"/>
              <a:t>the same time, we will work to rebuild client trust by creating a more organized, professional, and reliable outdoor advertising ecosystem — where brands feel confident investing and campaigns deliver results without disruption</a:t>
            </a:r>
            <a:r>
              <a:rPr lang="en-US" sz="1400" dirty="0" smtClean="0"/>
              <a:t>.</a:t>
            </a:r>
          </a:p>
          <a:p>
            <a:pPr algn="just"/>
            <a:endParaRPr lang="en-US" sz="1400" dirty="0"/>
          </a:p>
          <a:p>
            <a:pPr algn="just"/>
            <a:r>
              <a:rPr lang="en-US" sz="1400" dirty="0" smtClean="0"/>
              <a:t>“</a:t>
            </a:r>
            <a:r>
              <a:rPr lang="en-US" sz="1400" dirty="0"/>
              <a:t>A strong industry is built on fairness — when the advertiser works freely, the client invests confidently, and together, we build sustainable success</a:t>
            </a:r>
            <a:r>
              <a:rPr lang="en-US" sz="1400" dirty="0" smtClean="0"/>
              <a:t>.”</a:t>
            </a:r>
          </a:p>
          <a:p>
            <a:pPr algn="just"/>
            <a:endParaRPr lang="en-US" sz="1400" dirty="0"/>
          </a:p>
          <a:p>
            <a:pPr algn="just"/>
            <a:r>
              <a:rPr lang="en-US" sz="1400" dirty="0" smtClean="0"/>
              <a:t>This </a:t>
            </a:r>
            <a:r>
              <a:rPr lang="en-US" sz="1400" dirty="0"/>
              <a:t>is our time to fix the foundation and take this industry forward — stronger, cleaner, and more unified than ever before.</a:t>
            </a:r>
          </a:p>
        </p:txBody>
      </p:sp>
    </p:spTree>
    <p:extLst>
      <p:ext uri="{BB962C8B-B14F-4D97-AF65-F5344CB8AC3E}">
        <p14:creationId xmlns:p14="http://schemas.microsoft.com/office/powerpoint/2010/main" val="30596490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02276" y="528034"/>
            <a:ext cx="10869769" cy="3139321"/>
          </a:xfrm>
          <a:prstGeom prst="rect">
            <a:avLst/>
          </a:prstGeom>
          <a:noFill/>
        </p:spPr>
        <p:txBody>
          <a:bodyPr wrap="square" rtlCol="0">
            <a:spAutoFit/>
          </a:bodyPr>
          <a:lstStyle/>
          <a:p>
            <a:r>
              <a:rPr lang="en-US" b="1" dirty="0" smtClean="0"/>
              <a:t>Vision:</a:t>
            </a:r>
          </a:p>
          <a:p>
            <a:r>
              <a:rPr lang="en-US" dirty="0" smtClean="0"/>
              <a:t>To elevate Sindh’s OOH Advertising landscape and unlock the industry’s full potential through innovative, more engaging &amp; aesthetically enriched environments.</a:t>
            </a:r>
          </a:p>
          <a:p>
            <a:endParaRPr lang="en-US" dirty="0"/>
          </a:p>
          <a:p>
            <a:r>
              <a:rPr lang="en-US" b="1" dirty="0" smtClean="0"/>
              <a:t>Mission:</a:t>
            </a:r>
            <a:endParaRPr lang="en-US" b="1" dirty="0"/>
          </a:p>
          <a:p>
            <a:r>
              <a:rPr lang="en-US" dirty="0"/>
              <a:t>To </a:t>
            </a:r>
            <a:r>
              <a:rPr lang="en-US" dirty="0" smtClean="0"/>
              <a:t>unite media owners, advertisers and government, fostering a collaboration future-ready OOH ecosystem; based on technology driven &amp; data-based innovations.</a:t>
            </a:r>
          </a:p>
          <a:p>
            <a:endParaRPr lang="en-US" dirty="0"/>
          </a:p>
          <a:p>
            <a:endParaRPr lang="en-US" dirty="0" smtClean="0"/>
          </a:p>
          <a:p>
            <a:endParaRPr lang="en-US" dirty="0"/>
          </a:p>
          <a:p>
            <a:r>
              <a:rPr lang="en-US" dirty="0" smtClean="0"/>
              <a:t> </a:t>
            </a:r>
            <a:endParaRPr lang="en-US" dirty="0"/>
          </a:p>
        </p:txBody>
      </p:sp>
    </p:spTree>
    <p:extLst>
      <p:ext uri="{BB962C8B-B14F-4D97-AF65-F5344CB8AC3E}">
        <p14:creationId xmlns:p14="http://schemas.microsoft.com/office/powerpoint/2010/main" val="610551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02276" y="528034"/>
            <a:ext cx="10869769" cy="1723549"/>
          </a:xfrm>
          <a:prstGeom prst="rect">
            <a:avLst/>
          </a:prstGeom>
          <a:noFill/>
        </p:spPr>
        <p:txBody>
          <a:bodyPr wrap="square" rtlCol="0">
            <a:spAutoFit/>
          </a:bodyPr>
          <a:lstStyle/>
          <a:p>
            <a:r>
              <a:rPr lang="en-US" sz="8800" b="1" dirty="0"/>
              <a:t>About </a:t>
            </a:r>
            <a:r>
              <a:rPr lang="en-US" sz="8800" b="1" dirty="0" smtClean="0"/>
              <a:t>Us</a:t>
            </a:r>
            <a:endParaRPr lang="en-US" sz="8800" b="1" dirty="0"/>
          </a:p>
          <a:p>
            <a:r>
              <a:rPr lang="en-US" dirty="0" smtClean="0"/>
              <a:t> </a:t>
            </a:r>
            <a:endParaRPr lang="en-US" dirty="0"/>
          </a:p>
        </p:txBody>
      </p:sp>
    </p:spTree>
    <p:extLst>
      <p:ext uri="{BB962C8B-B14F-4D97-AF65-F5344CB8AC3E}">
        <p14:creationId xmlns:p14="http://schemas.microsoft.com/office/powerpoint/2010/main" val="1454082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616624" y="319688"/>
            <a:ext cx="2001895" cy="584775"/>
          </a:xfrm>
          <a:prstGeom prst="rect">
            <a:avLst/>
          </a:prstGeom>
        </p:spPr>
        <p:txBody>
          <a:bodyPr wrap="none">
            <a:spAutoFit/>
          </a:bodyPr>
          <a:lstStyle/>
          <a:p>
            <a:pPr algn="just"/>
            <a:r>
              <a:rPr lang="en-US" sz="3200" dirty="0" smtClean="0"/>
              <a:t>Leadership</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0307" t="26478" r="73587" b="57746"/>
          <a:stretch/>
        </p:blipFill>
        <p:spPr>
          <a:xfrm>
            <a:off x="734096" y="1300765"/>
            <a:ext cx="785611" cy="1081825"/>
          </a:xfrm>
          <a:prstGeom prst="rect">
            <a:avLst/>
          </a:prstGeom>
        </p:spPr>
      </p:pic>
      <p:sp>
        <p:nvSpPr>
          <p:cNvPr id="3" name="TextBox 2"/>
          <p:cNvSpPr txBox="1"/>
          <p:nvPr/>
        </p:nvSpPr>
        <p:spPr>
          <a:xfrm>
            <a:off x="1777285" y="1300766"/>
            <a:ext cx="2450321" cy="892552"/>
          </a:xfrm>
          <a:prstGeom prst="rect">
            <a:avLst/>
          </a:prstGeom>
          <a:noFill/>
        </p:spPr>
        <p:txBody>
          <a:bodyPr wrap="square" rtlCol="0">
            <a:spAutoFit/>
          </a:bodyPr>
          <a:lstStyle/>
          <a:p>
            <a:r>
              <a:rPr lang="en-US" b="1" dirty="0" err="1" smtClean="0"/>
              <a:t>Shahid</a:t>
            </a:r>
            <a:r>
              <a:rPr lang="en-US" b="1" dirty="0" smtClean="0"/>
              <a:t> </a:t>
            </a:r>
            <a:r>
              <a:rPr lang="en-US" b="1" dirty="0" err="1" smtClean="0"/>
              <a:t>Zaib</a:t>
            </a:r>
            <a:r>
              <a:rPr lang="en-US" b="1" dirty="0" smtClean="0"/>
              <a:t> – Chairman</a:t>
            </a:r>
          </a:p>
          <a:p>
            <a:r>
              <a:rPr lang="en-US" dirty="0" smtClean="0"/>
              <a:t>Description about self</a:t>
            </a:r>
            <a:endParaRPr lang="en-US" dirty="0"/>
          </a:p>
          <a:p>
            <a:endParaRPr lang="en-US" sz="16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1165" t="26855" r="52729" b="57746"/>
          <a:stretch/>
        </p:blipFill>
        <p:spPr>
          <a:xfrm>
            <a:off x="6377703" y="1219008"/>
            <a:ext cx="785611" cy="1056068"/>
          </a:xfrm>
          <a:prstGeom prst="rect">
            <a:avLst/>
          </a:prstGeom>
        </p:spPr>
      </p:pic>
      <p:sp>
        <p:nvSpPr>
          <p:cNvPr id="8" name="TextBox 7"/>
          <p:cNvSpPr txBox="1"/>
          <p:nvPr/>
        </p:nvSpPr>
        <p:spPr>
          <a:xfrm>
            <a:off x="7448562" y="1300766"/>
            <a:ext cx="3105954" cy="892552"/>
          </a:xfrm>
          <a:prstGeom prst="rect">
            <a:avLst/>
          </a:prstGeom>
          <a:noFill/>
        </p:spPr>
        <p:txBody>
          <a:bodyPr wrap="square" rtlCol="0">
            <a:spAutoFit/>
          </a:bodyPr>
          <a:lstStyle/>
          <a:p>
            <a:r>
              <a:rPr lang="en-US" b="1" dirty="0" smtClean="0"/>
              <a:t>Aamir Siddique – President</a:t>
            </a:r>
          </a:p>
          <a:p>
            <a:r>
              <a:rPr lang="en-US" dirty="0" smtClean="0"/>
              <a:t>Description about self</a:t>
            </a:r>
            <a:endParaRPr lang="en-US" dirty="0"/>
          </a:p>
          <a:p>
            <a:endParaRPr lang="en-US" sz="1600" dirty="0"/>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53872" t="26855" r="30022" b="57746"/>
          <a:stretch/>
        </p:blipFill>
        <p:spPr>
          <a:xfrm>
            <a:off x="734096" y="2778893"/>
            <a:ext cx="785611" cy="1056068"/>
          </a:xfrm>
          <a:prstGeom prst="rect">
            <a:avLst/>
          </a:prstGeom>
        </p:spPr>
      </p:pic>
      <p:sp>
        <p:nvSpPr>
          <p:cNvPr id="10" name="TextBox 9"/>
          <p:cNvSpPr txBox="1"/>
          <p:nvPr/>
        </p:nvSpPr>
        <p:spPr>
          <a:xfrm>
            <a:off x="1519707" y="2860651"/>
            <a:ext cx="3732960" cy="892552"/>
          </a:xfrm>
          <a:prstGeom prst="rect">
            <a:avLst/>
          </a:prstGeom>
          <a:noFill/>
        </p:spPr>
        <p:txBody>
          <a:bodyPr wrap="square" rtlCol="0">
            <a:spAutoFit/>
          </a:bodyPr>
          <a:lstStyle/>
          <a:p>
            <a:r>
              <a:rPr lang="en-US" b="1" dirty="0" err="1" smtClean="0"/>
              <a:t>Hafeez</a:t>
            </a:r>
            <a:r>
              <a:rPr lang="en-US" b="1" dirty="0" smtClean="0"/>
              <a:t> </a:t>
            </a:r>
            <a:r>
              <a:rPr lang="en-US" b="1" dirty="0" err="1" smtClean="0"/>
              <a:t>ur</a:t>
            </a:r>
            <a:r>
              <a:rPr lang="en-US" b="1" dirty="0" smtClean="0"/>
              <a:t> </a:t>
            </a:r>
            <a:r>
              <a:rPr lang="en-US" b="1" dirty="0" err="1" smtClean="0"/>
              <a:t>Rehman</a:t>
            </a:r>
            <a:r>
              <a:rPr lang="en-US" b="1" dirty="0" smtClean="0"/>
              <a:t> – Sr. V. President </a:t>
            </a:r>
          </a:p>
          <a:p>
            <a:r>
              <a:rPr lang="en-US" dirty="0" smtClean="0"/>
              <a:t>Description about self</a:t>
            </a:r>
            <a:endParaRPr lang="en-US" dirty="0"/>
          </a:p>
          <a:p>
            <a:endParaRPr lang="en-US" sz="160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9859" t="50623" r="74035" b="33978"/>
          <a:stretch/>
        </p:blipFill>
        <p:spPr>
          <a:xfrm>
            <a:off x="6390955" y="2671379"/>
            <a:ext cx="785611" cy="1056068"/>
          </a:xfrm>
          <a:prstGeom prst="rect">
            <a:avLst/>
          </a:prstGeom>
        </p:spPr>
      </p:pic>
      <p:sp>
        <p:nvSpPr>
          <p:cNvPr id="12" name="TextBox 11"/>
          <p:cNvSpPr txBox="1"/>
          <p:nvPr/>
        </p:nvSpPr>
        <p:spPr>
          <a:xfrm>
            <a:off x="7448561" y="2753137"/>
            <a:ext cx="4613903" cy="1477328"/>
          </a:xfrm>
          <a:prstGeom prst="rect">
            <a:avLst/>
          </a:prstGeom>
          <a:noFill/>
        </p:spPr>
        <p:txBody>
          <a:bodyPr wrap="square" rtlCol="0">
            <a:spAutoFit/>
          </a:bodyPr>
          <a:lstStyle/>
          <a:p>
            <a:r>
              <a:rPr lang="en-US" b="1" dirty="0" smtClean="0"/>
              <a:t>Syed Faisal Hussain – V. President </a:t>
            </a:r>
          </a:p>
          <a:p>
            <a:r>
              <a:rPr lang="en-US" sz="1200" dirty="0"/>
              <a:t>Mr. Syed Faisal </a:t>
            </a:r>
            <a:r>
              <a:rPr lang="en-US" sz="1200" dirty="0" err="1"/>
              <a:t>Hussain</a:t>
            </a:r>
            <a:r>
              <a:rPr lang="en-US" sz="1200" dirty="0"/>
              <a:t> is a senior industry leader and entrepreneur with over two decades of proven excellence in the Out-of-Home (OOH) advertising sector. He entered the industry in 2001 through Vision Publicity, where he rapidly distinguished himself through operational strength, executional precision, and a deep understanding of media infrastructure.</a:t>
            </a:r>
            <a:endParaRPr lang="en-US" sz="1100" dirty="0"/>
          </a:p>
        </p:txBody>
      </p:sp>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l="74425" t="26478" r="9469" b="57746"/>
          <a:stretch/>
        </p:blipFill>
        <p:spPr>
          <a:xfrm>
            <a:off x="748747" y="4134755"/>
            <a:ext cx="785611" cy="1081825"/>
          </a:xfrm>
          <a:prstGeom prst="rect">
            <a:avLst/>
          </a:prstGeom>
        </p:spPr>
      </p:pic>
      <p:sp>
        <p:nvSpPr>
          <p:cNvPr id="14" name="TextBox 13"/>
          <p:cNvSpPr txBox="1"/>
          <p:nvPr/>
        </p:nvSpPr>
        <p:spPr>
          <a:xfrm>
            <a:off x="1791936" y="4134756"/>
            <a:ext cx="3614951" cy="892552"/>
          </a:xfrm>
          <a:prstGeom prst="rect">
            <a:avLst/>
          </a:prstGeom>
          <a:noFill/>
        </p:spPr>
        <p:txBody>
          <a:bodyPr wrap="square" rtlCol="0">
            <a:spAutoFit/>
          </a:bodyPr>
          <a:lstStyle/>
          <a:p>
            <a:r>
              <a:rPr lang="en-US" b="1" dirty="0" smtClean="0"/>
              <a:t>Syed </a:t>
            </a:r>
            <a:r>
              <a:rPr lang="en-US" b="1" dirty="0" err="1" smtClean="0"/>
              <a:t>Sabir</a:t>
            </a:r>
            <a:r>
              <a:rPr lang="en-US" b="1" dirty="0" smtClean="0"/>
              <a:t> Ali – General Secretary </a:t>
            </a:r>
          </a:p>
          <a:p>
            <a:r>
              <a:rPr lang="en-US" dirty="0" smtClean="0"/>
              <a:t>Description about self</a:t>
            </a:r>
            <a:endParaRPr lang="en-US" dirty="0"/>
          </a:p>
          <a:p>
            <a:endParaRPr lang="en-US" sz="1600" dirty="0"/>
          </a:p>
        </p:txBody>
      </p:sp>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31708" t="50430" r="52186" b="34171"/>
          <a:stretch/>
        </p:blipFill>
        <p:spPr>
          <a:xfrm>
            <a:off x="6392354" y="4052998"/>
            <a:ext cx="785611" cy="1056068"/>
          </a:xfrm>
          <a:prstGeom prst="rect">
            <a:avLst/>
          </a:prstGeom>
        </p:spPr>
      </p:pic>
      <p:sp>
        <p:nvSpPr>
          <p:cNvPr id="16" name="TextBox 15"/>
          <p:cNvSpPr txBox="1"/>
          <p:nvPr/>
        </p:nvSpPr>
        <p:spPr>
          <a:xfrm>
            <a:off x="7463213" y="4134756"/>
            <a:ext cx="3732960" cy="892552"/>
          </a:xfrm>
          <a:prstGeom prst="rect">
            <a:avLst/>
          </a:prstGeom>
          <a:noFill/>
        </p:spPr>
        <p:txBody>
          <a:bodyPr wrap="square" rtlCol="0">
            <a:spAutoFit/>
          </a:bodyPr>
          <a:lstStyle/>
          <a:p>
            <a:r>
              <a:rPr lang="en-US" b="1" dirty="0" smtClean="0"/>
              <a:t>Masood Ali Khan – Joint Secretary </a:t>
            </a:r>
          </a:p>
          <a:p>
            <a:r>
              <a:rPr lang="en-US" dirty="0" smtClean="0"/>
              <a:t>Description about self</a:t>
            </a:r>
            <a:endParaRPr lang="en-US" dirty="0"/>
          </a:p>
          <a:p>
            <a:endParaRPr lang="en-US" sz="1600" dirty="0"/>
          </a:p>
        </p:txBody>
      </p:sp>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l="53872" t="50430" r="30022" b="34171"/>
          <a:stretch/>
        </p:blipFill>
        <p:spPr>
          <a:xfrm>
            <a:off x="748747" y="5612883"/>
            <a:ext cx="785611" cy="1056068"/>
          </a:xfrm>
          <a:prstGeom prst="rect">
            <a:avLst/>
          </a:prstGeom>
        </p:spPr>
      </p:pic>
      <p:sp>
        <p:nvSpPr>
          <p:cNvPr id="18" name="TextBox 17"/>
          <p:cNvSpPr txBox="1"/>
          <p:nvPr/>
        </p:nvSpPr>
        <p:spPr>
          <a:xfrm>
            <a:off x="1534357" y="5694641"/>
            <a:ext cx="3991799" cy="892552"/>
          </a:xfrm>
          <a:prstGeom prst="rect">
            <a:avLst/>
          </a:prstGeom>
          <a:noFill/>
        </p:spPr>
        <p:txBody>
          <a:bodyPr wrap="square" rtlCol="0">
            <a:spAutoFit/>
          </a:bodyPr>
          <a:lstStyle/>
          <a:p>
            <a:r>
              <a:rPr lang="en-US" b="1" dirty="0" err="1" smtClean="0"/>
              <a:t>Najeeb</a:t>
            </a:r>
            <a:r>
              <a:rPr lang="en-US" b="1" dirty="0" smtClean="0"/>
              <a:t> </a:t>
            </a:r>
            <a:r>
              <a:rPr lang="en-US" b="1" dirty="0" err="1" smtClean="0"/>
              <a:t>Farooqi</a:t>
            </a:r>
            <a:r>
              <a:rPr lang="en-US" b="1" dirty="0" smtClean="0"/>
              <a:t> – Information Secretary</a:t>
            </a:r>
          </a:p>
          <a:p>
            <a:r>
              <a:rPr lang="en-US" dirty="0" smtClean="0"/>
              <a:t>Description about self</a:t>
            </a:r>
            <a:endParaRPr lang="en-US" dirty="0"/>
          </a:p>
          <a:p>
            <a:endParaRPr lang="en-US" sz="1600" dirty="0"/>
          </a:p>
        </p:txBody>
      </p:sp>
      <p:pic>
        <p:nvPicPr>
          <p:cNvPr id="19" name="Picture 18"/>
          <p:cNvPicPr>
            <a:picLocks noChangeAspect="1"/>
          </p:cNvPicPr>
          <p:nvPr/>
        </p:nvPicPr>
        <p:blipFill rotWithShape="1">
          <a:blip r:embed="rId2">
            <a:extLst>
              <a:ext uri="{28A0092B-C50C-407E-A947-70E740481C1C}">
                <a14:useLocalDpi xmlns:a14="http://schemas.microsoft.com/office/drawing/2010/main" val="0"/>
              </a:ext>
            </a:extLst>
          </a:blip>
          <a:srcRect l="74792" t="50623" r="9102" b="33978"/>
          <a:stretch/>
        </p:blipFill>
        <p:spPr>
          <a:xfrm>
            <a:off x="6405606" y="5505369"/>
            <a:ext cx="785611" cy="1056068"/>
          </a:xfrm>
          <a:prstGeom prst="rect">
            <a:avLst/>
          </a:prstGeom>
        </p:spPr>
      </p:pic>
      <p:sp>
        <p:nvSpPr>
          <p:cNvPr id="20" name="TextBox 19"/>
          <p:cNvSpPr txBox="1"/>
          <p:nvPr/>
        </p:nvSpPr>
        <p:spPr>
          <a:xfrm>
            <a:off x="7463212" y="5587127"/>
            <a:ext cx="4599252" cy="2585323"/>
          </a:xfrm>
          <a:prstGeom prst="rect">
            <a:avLst/>
          </a:prstGeom>
          <a:noFill/>
        </p:spPr>
        <p:txBody>
          <a:bodyPr wrap="square" rtlCol="0">
            <a:spAutoFit/>
          </a:bodyPr>
          <a:lstStyle/>
          <a:p>
            <a:r>
              <a:rPr lang="en-US" b="1" dirty="0" smtClean="0"/>
              <a:t>Muhammad Usman – Finance Secretary </a:t>
            </a:r>
            <a:endParaRPr lang="en-US" b="1" dirty="0" smtClean="0"/>
          </a:p>
          <a:p>
            <a:r>
              <a:rPr lang="en-US" sz="1200" dirty="0"/>
              <a:t>Have a marketing experience of more than three decades. In the initial face of my career, I was part of the marketing team at American Express Bank for 8 years where I launched and managed the Dollar Card program. From 2000 onwards, I was part of the MCB Bank marketing team where I worked a solid 18 years. I was responsible for the Nationwide Branch Branding, Giveaways, Newspaper ads, TVCs, Radio and OOH along with Payments, Procurement and Annual Budget Designing. I was also a member of the team that launched MCB Visa Credit Card back in 2006. From 2016 onwards, I am part of the OOH industry under the company name "Graphics Edge". In the core of this journey, I have worked with multiple brands from various sectors like Food, FMCG, Textile, Furniture and Construction sector.</a:t>
            </a:r>
            <a:endParaRPr lang="en-US" sz="1100" dirty="0"/>
          </a:p>
        </p:txBody>
      </p:sp>
    </p:spTree>
    <p:extLst>
      <p:ext uri="{BB962C8B-B14F-4D97-AF65-F5344CB8AC3E}">
        <p14:creationId xmlns:p14="http://schemas.microsoft.com/office/powerpoint/2010/main" val="3983811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616624" y="319688"/>
            <a:ext cx="2001895" cy="584775"/>
          </a:xfrm>
          <a:prstGeom prst="rect">
            <a:avLst/>
          </a:prstGeom>
        </p:spPr>
        <p:txBody>
          <a:bodyPr wrap="none">
            <a:spAutoFit/>
          </a:bodyPr>
          <a:lstStyle/>
          <a:p>
            <a:pPr algn="just"/>
            <a:r>
              <a:rPr lang="en-US" sz="3200" dirty="0" smtClean="0"/>
              <a:t>Leadership</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1822" t="72086" r="42072" b="12138"/>
          <a:stretch/>
        </p:blipFill>
        <p:spPr>
          <a:xfrm>
            <a:off x="734096" y="1300765"/>
            <a:ext cx="785611" cy="1081825"/>
          </a:xfrm>
          <a:prstGeom prst="rect">
            <a:avLst/>
          </a:prstGeom>
        </p:spPr>
      </p:pic>
      <p:sp>
        <p:nvSpPr>
          <p:cNvPr id="3" name="TextBox 2"/>
          <p:cNvSpPr txBox="1"/>
          <p:nvPr/>
        </p:nvSpPr>
        <p:spPr>
          <a:xfrm>
            <a:off x="1777285" y="1300766"/>
            <a:ext cx="4915063" cy="1446550"/>
          </a:xfrm>
          <a:prstGeom prst="rect">
            <a:avLst/>
          </a:prstGeom>
          <a:noFill/>
        </p:spPr>
        <p:txBody>
          <a:bodyPr wrap="square" rtlCol="0">
            <a:spAutoFit/>
          </a:bodyPr>
          <a:lstStyle/>
          <a:p>
            <a:r>
              <a:rPr lang="en-US" b="1" dirty="0" smtClean="0"/>
              <a:t>Syed Ammar ul Hasan Naqvi – Executive Member</a:t>
            </a:r>
          </a:p>
          <a:p>
            <a:pPr algn="just"/>
            <a:r>
              <a:rPr lang="en-US" sz="1400" dirty="0">
                <a:latin typeface="+mj-lt"/>
              </a:rPr>
              <a:t>"A highly motivated and results-oriented marketing professional with </a:t>
            </a:r>
            <a:r>
              <a:rPr lang="en-US" sz="1400" dirty="0" smtClean="0">
                <a:latin typeface="+mj-lt"/>
              </a:rPr>
              <a:t>20 </a:t>
            </a:r>
            <a:r>
              <a:rPr lang="en-US" sz="1400" dirty="0">
                <a:latin typeface="+mj-lt"/>
              </a:rPr>
              <a:t>years of experience in </a:t>
            </a:r>
            <a:r>
              <a:rPr lang="en-US" sz="1400" dirty="0" smtClean="0">
                <a:latin typeface="+mj-lt"/>
              </a:rPr>
              <a:t>Sales &amp; Marketing </a:t>
            </a:r>
            <a:r>
              <a:rPr lang="en-US" sz="1400" dirty="0">
                <a:latin typeface="+mj-lt"/>
              </a:rPr>
              <a:t>and campaign management. Proven ability to develop and implement successful marketing strategies, resulting in increased brand awareness and revenue growth</a:t>
            </a:r>
            <a:r>
              <a:rPr lang="en-US" sz="1400" dirty="0" smtClean="0">
                <a:latin typeface="+mj-lt"/>
              </a:rPr>
              <a:t>.</a:t>
            </a:r>
            <a:endParaRPr lang="en-US" sz="1200" dirty="0">
              <a:latin typeface="+mj-lt"/>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7581" t="71685" r="66313" b="12916"/>
          <a:stretch/>
        </p:blipFill>
        <p:spPr>
          <a:xfrm>
            <a:off x="6907794" y="1219008"/>
            <a:ext cx="785611" cy="1056068"/>
          </a:xfrm>
          <a:prstGeom prst="rect">
            <a:avLst/>
          </a:prstGeom>
        </p:spPr>
      </p:pic>
      <p:sp>
        <p:nvSpPr>
          <p:cNvPr id="8" name="TextBox 7"/>
          <p:cNvSpPr txBox="1"/>
          <p:nvPr/>
        </p:nvSpPr>
        <p:spPr>
          <a:xfrm>
            <a:off x="7978652" y="1300766"/>
            <a:ext cx="4004957" cy="892552"/>
          </a:xfrm>
          <a:prstGeom prst="rect">
            <a:avLst/>
          </a:prstGeom>
          <a:noFill/>
        </p:spPr>
        <p:txBody>
          <a:bodyPr wrap="square" rtlCol="0">
            <a:spAutoFit/>
          </a:bodyPr>
          <a:lstStyle/>
          <a:p>
            <a:r>
              <a:rPr lang="en-US" b="1" dirty="0" smtClean="0"/>
              <a:t>Muhammad </a:t>
            </a:r>
            <a:r>
              <a:rPr lang="en-US" b="1" dirty="0" err="1" smtClean="0"/>
              <a:t>Zaffar</a:t>
            </a:r>
            <a:r>
              <a:rPr lang="en-US" b="1" dirty="0" smtClean="0"/>
              <a:t>  – Executive Member</a:t>
            </a:r>
          </a:p>
          <a:p>
            <a:r>
              <a:rPr lang="en-US" dirty="0" smtClean="0"/>
              <a:t>Description about self</a:t>
            </a:r>
            <a:endParaRPr lang="en-US" dirty="0"/>
          </a:p>
          <a:p>
            <a:endParaRPr lang="en-US" sz="1600" dirty="0"/>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65826" t="72072" r="18068" b="12529"/>
          <a:stretch/>
        </p:blipFill>
        <p:spPr>
          <a:xfrm>
            <a:off x="734096" y="3273561"/>
            <a:ext cx="785611" cy="1056068"/>
          </a:xfrm>
          <a:prstGeom prst="rect">
            <a:avLst/>
          </a:prstGeom>
        </p:spPr>
      </p:pic>
      <p:sp>
        <p:nvSpPr>
          <p:cNvPr id="10" name="TextBox 9"/>
          <p:cNvSpPr txBox="1"/>
          <p:nvPr/>
        </p:nvSpPr>
        <p:spPr>
          <a:xfrm>
            <a:off x="1519707" y="3355319"/>
            <a:ext cx="4211392" cy="892552"/>
          </a:xfrm>
          <a:prstGeom prst="rect">
            <a:avLst/>
          </a:prstGeom>
          <a:noFill/>
        </p:spPr>
        <p:txBody>
          <a:bodyPr wrap="square" rtlCol="0">
            <a:spAutoFit/>
          </a:bodyPr>
          <a:lstStyle/>
          <a:p>
            <a:r>
              <a:rPr lang="en-US" b="1" dirty="0" smtClean="0"/>
              <a:t>Muhammad </a:t>
            </a:r>
            <a:r>
              <a:rPr lang="en-US" b="1" dirty="0" err="1" smtClean="0"/>
              <a:t>Javaid</a:t>
            </a:r>
            <a:r>
              <a:rPr lang="en-US" b="1" dirty="0" smtClean="0"/>
              <a:t>  – Executive Member</a:t>
            </a:r>
          </a:p>
          <a:p>
            <a:r>
              <a:rPr lang="en-US" dirty="0" smtClean="0"/>
              <a:t>Description about self</a:t>
            </a:r>
            <a:endParaRPr lang="en-US" dirty="0"/>
          </a:p>
          <a:p>
            <a:endParaRPr lang="en-US" sz="1600" dirty="0"/>
          </a:p>
        </p:txBody>
      </p:sp>
    </p:spTree>
    <p:extLst>
      <p:ext uri="{BB962C8B-B14F-4D97-AF65-F5344CB8AC3E}">
        <p14:creationId xmlns:p14="http://schemas.microsoft.com/office/powerpoint/2010/main" val="3932226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sp>
        <p:nvSpPr>
          <p:cNvPr id="8" name="TextBox 7"/>
          <p:cNvSpPr txBox="1"/>
          <p:nvPr/>
        </p:nvSpPr>
        <p:spPr>
          <a:xfrm>
            <a:off x="182880" y="2048893"/>
            <a:ext cx="11788726" cy="4339650"/>
          </a:xfrm>
          <a:prstGeom prst="rect">
            <a:avLst/>
          </a:prstGeom>
          <a:noFill/>
        </p:spPr>
        <p:txBody>
          <a:bodyPr wrap="square" rtlCol="0">
            <a:spAutoFit/>
          </a:bodyPr>
          <a:lstStyle/>
          <a:p>
            <a:pPr fontAlgn="base"/>
            <a:r>
              <a:rPr lang="en-US" sz="1200" b="1" dirty="0"/>
              <a:t>Purpose:</a:t>
            </a:r>
            <a:r>
              <a:rPr lang="en-US" sz="1200" dirty="0"/>
              <a:t/>
            </a:r>
            <a:br>
              <a:rPr lang="en-US" sz="1200" dirty="0"/>
            </a:br>
            <a:r>
              <a:rPr lang="en-US" sz="1200" dirty="0"/>
              <a:t>The Co-ordination Committee – I is responsible for facilitating effective communication, collaboration, and alignment among various departments, units, or stakeholder groups within the trade union. Its role is to ensure that activities and initiatives are coordinated efficiently to achieve the union’s strategic objectives.</a:t>
            </a:r>
          </a:p>
          <a:p>
            <a:pPr fontAlgn="base"/>
            <a:r>
              <a:rPr lang="en-US" sz="1200" b="1" dirty="0"/>
              <a:t>Key Responsibilities:</a:t>
            </a:r>
            <a:endParaRPr lang="en-US" sz="1200" dirty="0"/>
          </a:p>
          <a:p>
            <a:pPr fontAlgn="base"/>
            <a:r>
              <a:rPr lang="en-US" sz="1200" b="1" dirty="0"/>
              <a:t>Strategic Alignment:</a:t>
            </a:r>
            <a:endParaRPr lang="en-US" sz="1200" dirty="0"/>
          </a:p>
          <a:p>
            <a:pPr lvl="1" fontAlgn="base"/>
            <a:r>
              <a:rPr lang="en-US" sz="1200" dirty="0"/>
              <a:t>Ensure that different departments or units work towards common goals and adhere to the union’s policies and strategic plans.</a:t>
            </a:r>
          </a:p>
          <a:p>
            <a:pPr lvl="1" fontAlgn="base"/>
            <a:r>
              <a:rPr lang="en-US" sz="1200" dirty="0"/>
              <a:t>Facilitate the implementation of union policies across various functions.</a:t>
            </a:r>
          </a:p>
          <a:p>
            <a:pPr fontAlgn="base"/>
            <a:r>
              <a:rPr lang="en-US" sz="1200" b="1" dirty="0"/>
              <a:t>Communication and Information Sharing:</a:t>
            </a:r>
            <a:endParaRPr lang="en-US" sz="1200" dirty="0"/>
          </a:p>
          <a:p>
            <a:pPr lvl="1" fontAlgn="base"/>
            <a:r>
              <a:rPr lang="en-US" sz="1200" dirty="0"/>
              <a:t>Promote open and effective communication channels among members, departments, and leadership.</a:t>
            </a:r>
          </a:p>
          <a:p>
            <a:pPr lvl="1" fontAlgn="base"/>
            <a:r>
              <a:rPr lang="en-US" sz="1200" dirty="0"/>
              <a:t>Disseminate relevant information, updates, and decisions to all stakeholders in a timely manner.</a:t>
            </a:r>
          </a:p>
          <a:p>
            <a:pPr fontAlgn="base"/>
            <a:r>
              <a:rPr lang="en-US" sz="1200" b="1" dirty="0"/>
              <a:t>Planning and Coordination of Activities:</a:t>
            </a:r>
            <a:endParaRPr lang="en-US" sz="1200" dirty="0"/>
          </a:p>
          <a:p>
            <a:pPr lvl="1" fontAlgn="base"/>
            <a:r>
              <a:rPr lang="en-US" sz="1200" dirty="0"/>
              <a:t>Organize and oversee joint activities, meetings, and initiatives to ensure coherence and synergy.</a:t>
            </a:r>
          </a:p>
          <a:p>
            <a:pPr lvl="1" fontAlgn="base"/>
            <a:r>
              <a:rPr lang="en-US" sz="1200" dirty="0"/>
              <a:t>Coordinate schedules, resources, and responsibilities for union programs and campaigns.</a:t>
            </a:r>
          </a:p>
          <a:p>
            <a:pPr fontAlgn="base"/>
            <a:r>
              <a:rPr lang="en-US" sz="1200" b="1" dirty="0"/>
              <a:t>Problem Solving and Conflict Resolution:</a:t>
            </a:r>
            <a:endParaRPr lang="en-US" sz="1200" dirty="0"/>
          </a:p>
          <a:p>
            <a:pPr lvl="1" fontAlgn="base"/>
            <a:r>
              <a:rPr lang="en-US" sz="1200" dirty="0"/>
              <a:t>Act as a mediator to resolve inter-departmental or stakeholder conflicts.</a:t>
            </a:r>
          </a:p>
          <a:p>
            <a:pPr lvl="1" fontAlgn="base"/>
            <a:r>
              <a:rPr lang="en-US" sz="1200" dirty="0"/>
              <a:t>Address issues that may hinder the smooth functioning of union activities.</a:t>
            </a:r>
          </a:p>
          <a:p>
            <a:pPr fontAlgn="base"/>
            <a:r>
              <a:rPr lang="en-US" sz="1200" b="1" dirty="0"/>
              <a:t>Monitoring and Evaluation:</a:t>
            </a:r>
            <a:endParaRPr lang="en-US" sz="1200" dirty="0"/>
          </a:p>
          <a:p>
            <a:pPr lvl="1" fontAlgn="base"/>
            <a:r>
              <a:rPr lang="en-US" sz="1200" dirty="0"/>
              <a:t>Track the progress of coordinated activities and initiatives.</a:t>
            </a:r>
          </a:p>
          <a:p>
            <a:pPr lvl="1" fontAlgn="base"/>
            <a:r>
              <a:rPr lang="en-US" sz="1200" dirty="0"/>
              <a:t>Provide feedback and recommendations for improvement to union leadership.</a:t>
            </a:r>
          </a:p>
          <a:p>
            <a:pPr fontAlgn="base"/>
            <a:r>
              <a:rPr lang="en-US" sz="1200" b="1" dirty="0"/>
              <a:t>Policy Implementation Support:</a:t>
            </a:r>
            <a:endParaRPr lang="en-US" sz="1200" dirty="0"/>
          </a:p>
          <a:p>
            <a:pPr lvl="1" fontAlgn="base"/>
            <a:r>
              <a:rPr lang="en-US" sz="1200" dirty="0"/>
              <a:t>Assist in the dissemination and enforcement of union policies and decisions across different units.</a:t>
            </a:r>
          </a:p>
          <a:p>
            <a:pPr fontAlgn="base"/>
            <a:r>
              <a:rPr lang="en-US" sz="1200" b="1" dirty="0"/>
              <a:t>Reporting:</a:t>
            </a:r>
            <a:endParaRPr lang="en-US" sz="1200" dirty="0"/>
          </a:p>
          <a:p>
            <a:pPr lvl="1" fontAlgn="base"/>
            <a:r>
              <a:rPr lang="en-US" sz="1200" dirty="0"/>
              <a:t>Prepare reports on coordination activities, challenges, and outcomes for review by senior management or the executive committee.</a:t>
            </a:r>
          </a:p>
        </p:txBody>
      </p:sp>
      <p:sp>
        <p:nvSpPr>
          <p:cNvPr id="5" name="Rectangle 4"/>
          <p:cNvSpPr/>
          <p:nvPr/>
        </p:nvSpPr>
        <p:spPr>
          <a:xfrm>
            <a:off x="1335632" y="1063165"/>
            <a:ext cx="4600934" cy="646331"/>
          </a:xfrm>
          <a:prstGeom prst="rect">
            <a:avLst/>
          </a:prstGeom>
        </p:spPr>
        <p:txBody>
          <a:bodyPr wrap="square">
            <a:spAutoFit/>
          </a:bodyPr>
          <a:lstStyle/>
          <a:p>
            <a:r>
              <a:rPr lang="en-US" b="1" dirty="0" err="1" smtClean="0"/>
              <a:t>Sabir</a:t>
            </a:r>
            <a:r>
              <a:rPr lang="en-US" b="1" dirty="0" smtClean="0"/>
              <a:t> Ali:</a:t>
            </a:r>
          </a:p>
          <a:p>
            <a:r>
              <a:rPr lang="en-US" dirty="0" smtClean="0"/>
              <a:t>Chairman – Co-Ordination Committee – I</a:t>
            </a:r>
            <a:endParaRPr lang="en-US" dirty="0"/>
          </a:p>
        </p:txBody>
      </p:sp>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l="74425" t="26478" r="9469" b="57746"/>
          <a:stretch/>
        </p:blipFill>
        <p:spPr>
          <a:xfrm>
            <a:off x="366316" y="797369"/>
            <a:ext cx="785611" cy="1081825"/>
          </a:xfrm>
          <a:prstGeom prst="rect">
            <a:avLst/>
          </a:prstGeom>
        </p:spPr>
      </p:pic>
      <p:sp>
        <p:nvSpPr>
          <p:cNvPr id="18" name="Rectangle 17"/>
          <p:cNvSpPr/>
          <p:nvPr/>
        </p:nvSpPr>
        <p:spPr>
          <a:xfrm>
            <a:off x="7384740" y="1063165"/>
            <a:ext cx="4600934" cy="646331"/>
          </a:xfrm>
          <a:prstGeom prst="rect">
            <a:avLst/>
          </a:prstGeom>
        </p:spPr>
        <p:txBody>
          <a:bodyPr wrap="square">
            <a:spAutoFit/>
          </a:bodyPr>
          <a:lstStyle/>
          <a:p>
            <a:r>
              <a:rPr lang="en-US" b="1" dirty="0" smtClean="0"/>
              <a:t>Syed Faisal Hussain:</a:t>
            </a:r>
          </a:p>
          <a:p>
            <a:r>
              <a:rPr lang="en-US" dirty="0" smtClean="0"/>
              <a:t>Chairman – Co-Ordination Committee – II</a:t>
            </a:r>
            <a:endParaRPr lang="en-US" dirty="0"/>
          </a:p>
        </p:txBody>
      </p:sp>
      <p:pic>
        <p:nvPicPr>
          <p:cNvPr id="19" name="Picture 18"/>
          <p:cNvPicPr>
            <a:picLocks noChangeAspect="1"/>
          </p:cNvPicPr>
          <p:nvPr/>
        </p:nvPicPr>
        <p:blipFill rotWithShape="1">
          <a:blip r:embed="rId2">
            <a:extLst>
              <a:ext uri="{28A0092B-C50C-407E-A947-70E740481C1C}">
                <a14:useLocalDpi xmlns:a14="http://schemas.microsoft.com/office/drawing/2010/main" val="0"/>
              </a:ext>
            </a:extLst>
          </a:blip>
          <a:srcRect l="9859" t="50623" r="74035" b="33978"/>
          <a:stretch/>
        </p:blipFill>
        <p:spPr>
          <a:xfrm>
            <a:off x="6599129" y="797369"/>
            <a:ext cx="785611" cy="1056068"/>
          </a:xfrm>
          <a:prstGeom prst="rect">
            <a:avLst/>
          </a:prstGeom>
        </p:spPr>
      </p:pic>
    </p:spTree>
    <p:extLst>
      <p:ext uri="{BB962C8B-B14F-4D97-AF65-F5344CB8AC3E}">
        <p14:creationId xmlns:p14="http://schemas.microsoft.com/office/powerpoint/2010/main" val="34904902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sp>
        <p:nvSpPr>
          <p:cNvPr id="8" name="TextBox 7"/>
          <p:cNvSpPr txBox="1"/>
          <p:nvPr/>
        </p:nvSpPr>
        <p:spPr>
          <a:xfrm>
            <a:off x="182880" y="2048893"/>
            <a:ext cx="11788726" cy="4708981"/>
          </a:xfrm>
          <a:prstGeom prst="rect">
            <a:avLst/>
          </a:prstGeom>
          <a:noFill/>
        </p:spPr>
        <p:txBody>
          <a:bodyPr wrap="square" rtlCol="0">
            <a:spAutoFit/>
          </a:bodyPr>
          <a:lstStyle/>
          <a:p>
            <a:pPr fontAlgn="base"/>
            <a:r>
              <a:rPr lang="en-US" sz="1200" b="1" dirty="0"/>
              <a:t>Purpose:</a:t>
            </a:r>
            <a:r>
              <a:rPr lang="en-US" sz="1200" dirty="0"/>
              <a:t/>
            </a:r>
            <a:br>
              <a:rPr lang="en-US" sz="1200" dirty="0"/>
            </a:br>
            <a:r>
              <a:rPr lang="en-US" sz="1200" dirty="0"/>
              <a:t>The Arbitration Committee is responsible for resolving disputes and grievances between members</a:t>
            </a:r>
            <a:r>
              <a:rPr lang="en-US" sz="1200" dirty="0" smtClean="0"/>
              <a:t>, </a:t>
            </a:r>
            <a:r>
              <a:rPr lang="en-US" sz="1200" dirty="0"/>
              <a:t>and the union through fair and impartial arbitration processes. Its goal is to ensure that conflicts are settled in accordance with union policies, legal standards, and industry practices, thereby maintaining harmony and protecting members' rights.</a:t>
            </a:r>
          </a:p>
          <a:p>
            <a:pPr fontAlgn="base"/>
            <a:r>
              <a:rPr lang="en-US" sz="1200" b="1" dirty="0"/>
              <a:t>Key Responsibilities:</a:t>
            </a:r>
            <a:endParaRPr lang="en-US" sz="1200" dirty="0"/>
          </a:p>
          <a:p>
            <a:pPr fontAlgn="base"/>
            <a:r>
              <a:rPr lang="en-US" sz="1200" b="1" dirty="0"/>
              <a:t>Dispute Resolution:</a:t>
            </a:r>
            <a:endParaRPr lang="en-US" sz="1200" dirty="0"/>
          </a:p>
          <a:p>
            <a:pPr lvl="1" fontAlgn="base"/>
            <a:r>
              <a:rPr lang="en-US" sz="1200" dirty="0"/>
              <a:t>Hear and evaluate disputes, grievances, and claims brought forward by members or employers.</a:t>
            </a:r>
          </a:p>
          <a:p>
            <a:pPr lvl="1" fontAlgn="base"/>
            <a:r>
              <a:rPr lang="en-US" sz="1200" dirty="0"/>
              <a:t>Conduct hearings impartially, ensuring all parties have the opportunity to present their case.</a:t>
            </a:r>
          </a:p>
          <a:p>
            <a:pPr fontAlgn="base"/>
            <a:r>
              <a:rPr lang="en-US" sz="1200" b="1" dirty="0"/>
              <a:t>Investigation and Evidence Gathering:</a:t>
            </a:r>
            <a:endParaRPr lang="en-US" sz="1200" dirty="0"/>
          </a:p>
          <a:p>
            <a:pPr lvl="1" fontAlgn="base"/>
            <a:r>
              <a:rPr lang="en-US" sz="1200" dirty="0"/>
              <a:t>Review relevant documents, evidence, and testimonies related to disputes.</a:t>
            </a:r>
          </a:p>
          <a:p>
            <a:pPr lvl="1" fontAlgn="base"/>
            <a:r>
              <a:rPr lang="en-US" sz="1200" dirty="0"/>
              <a:t>Gather additional information as needed to make informed decisions.</a:t>
            </a:r>
          </a:p>
          <a:p>
            <a:pPr fontAlgn="base"/>
            <a:r>
              <a:rPr lang="en-US" sz="1200" b="1" dirty="0"/>
              <a:t>Decision-Making:</a:t>
            </a:r>
            <a:endParaRPr lang="en-US" sz="1200" dirty="0"/>
          </a:p>
          <a:p>
            <a:pPr lvl="1" fontAlgn="base"/>
            <a:r>
              <a:rPr lang="en-US" sz="1200" dirty="0"/>
              <a:t>Analyze facts and apply applicable laws, policies, and collective agreements to reach fair resolutions.</a:t>
            </a:r>
          </a:p>
          <a:p>
            <a:pPr lvl="1" fontAlgn="base"/>
            <a:r>
              <a:rPr lang="en-US" sz="1200" dirty="0"/>
              <a:t>Issue written arbitration decisions or awards that are clear, justified, and enforceable.</a:t>
            </a:r>
          </a:p>
          <a:p>
            <a:pPr fontAlgn="base"/>
            <a:r>
              <a:rPr lang="en-US" sz="1200" b="1" dirty="0"/>
              <a:t>Mediation and Negotiation:</a:t>
            </a:r>
            <a:endParaRPr lang="en-US" sz="1200" dirty="0"/>
          </a:p>
          <a:p>
            <a:pPr lvl="1" fontAlgn="base"/>
            <a:r>
              <a:rPr lang="en-US" sz="1200" dirty="0"/>
              <a:t>Facilitate negotiations between parties to reach mutually acceptable solutions when appropriate.</a:t>
            </a:r>
          </a:p>
          <a:p>
            <a:pPr lvl="1" fontAlgn="base"/>
            <a:r>
              <a:rPr lang="en-US" sz="1200" dirty="0"/>
              <a:t>Promote amicable resolutions to minimize escalation of conflicts.</a:t>
            </a:r>
          </a:p>
          <a:p>
            <a:pPr fontAlgn="base"/>
            <a:r>
              <a:rPr lang="en-US" sz="1200" b="1" dirty="0"/>
              <a:t>Policy Compliance:</a:t>
            </a:r>
            <a:endParaRPr lang="en-US" sz="1200" dirty="0"/>
          </a:p>
          <a:p>
            <a:pPr lvl="1" fontAlgn="base"/>
            <a:r>
              <a:rPr lang="en-US" sz="1200" dirty="0"/>
              <a:t>Ensure all arbitration proceedings adhere to union policies, legal requirements, and ethical standards.</a:t>
            </a:r>
          </a:p>
          <a:p>
            <a:pPr lvl="1" fontAlgn="base"/>
            <a:r>
              <a:rPr lang="en-US" sz="1200" dirty="0"/>
              <a:t>Maintain confidentiality of all proceedings and documentation.</a:t>
            </a:r>
          </a:p>
          <a:p>
            <a:pPr fontAlgn="base"/>
            <a:r>
              <a:rPr lang="en-US" sz="1200" b="1" dirty="0"/>
              <a:t>Record Keeping and Reporting:</a:t>
            </a:r>
            <a:endParaRPr lang="en-US" sz="1200" dirty="0"/>
          </a:p>
          <a:p>
            <a:pPr lvl="1" fontAlgn="base"/>
            <a:r>
              <a:rPr lang="en-US" sz="1200" dirty="0"/>
              <a:t>Maintain accurate records of hearings, decisions, and outcomes.</a:t>
            </a:r>
          </a:p>
          <a:p>
            <a:pPr lvl="1" fontAlgn="base"/>
            <a:r>
              <a:rPr lang="en-US" sz="1200" dirty="0"/>
              <a:t>Prepare reports on arbitration activities for union leadership and relevant stakeholders.</a:t>
            </a:r>
          </a:p>
          <a:p>
            <a:pPr fontAlgn="base"/>
            <a:r>
              <a:rPr lang="en-US" sz="1200" b="1" dirty="0"/>
              <a:t>Training and Development:</a:t>
            </a:r>
            <a:endParaRPr lang="en-US" sz="1200" dirty="0"/>
          </a:p>
          <a:p>
            <a:pPr lvl="1" fontAlgn="base"/>
            <a:r>
              <a:rPr lang="en-US" sz="1200" dirty="0"/>
              <a:t>Participate in ongoing training to stay updated on arbitration laws, procedures, and best practices.</a:t>
            </a:r>
          </a:p>
          <a:p>
            <a:pPr lvl="1" fontAlgn="base"/>
            <a:r>
              <a:rPr lang="en-US" sz="1200" dirty="0"/>
              <a:t>Provide guidance and support to other union representatives involved in dispute resolution</a:t>
            </a:r>
            <a:r>
              <a:rPr lang="en-US" sz="1200" dirty="0" smtClean="0"/>
              <a:t>.</a:t>
            </a:r>
            <a:endParaRPr lang="en-US" sz="1200" dirty="0"/>
          </a:p>
        </p:txBody>
      </p:sp>
      <p:sp>
        <p:nvSpPr>
          <p:cNvPr id="5" name="Rectangle 4"/>
          <p:cNvSpPr/>
          <p:nvPr/>
        </p:nvSpPr>
        <p:spPr>
          <a:xfrm>
            <a:off x="1335632" y="1063165"/>
            <a:ext cx="4600934" cy="646331"/>
          </a:xfrm>
          <a:prstGeom prst="rect">
            <a:avLst/>
          </a:prstGeom>
        </p:spPr>
        <p:txBody>
          <a:bodyPr wrap="square">
            <a:spAutoFit/>
          </a:bodyPr>
          <a:lstStyle/>
          <a:p>
            <a:r>
              <a:rPr lang="en-US" b="1" dirty="0" err="1" smtClean="0"/>
              <a:t>Hafeez</a:t>
            </a:r>
            <a:r>
              <a:rPr lang="en-US" b="1" dirty="0" smtClean="0"/>
              <a:t> Ur </a:t>
            </a:r>
            <a:r>
              <a:rPr lang="en-US" b="1" dirty="0" err="1" smtClean="0"/>
              <a:t>Rehman</a:t>
            </a:r>
            <a:r>
              <a:rPr lang="en-US" b="1" dirty="0" smtClean="0"/>
              <a:t>:</a:t>
            </a:r>
          </a:p>
          <a:p>
            <a:r>
              <a:rPr lang="en-US" dirty="0" smtClean="0"/>
              <a:t>Chairman – Arbitration Committee</a:t>
            </a:r>
            <a:endParaRPr lang="en-US" dirty="0"/>
          </a:p>
        </p:txBody>
      </p:sp>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53872" t="26855" r="30022" b="57746"/>
          <a:stretch/>
        </p:blipFill>
        <p:spPr>
          <a:xfrm>
            <a:off x="366317" y="858296"/>
            <a:ext cx="785611" cy="1056068"/>
          </a:xfrm>
          <a:prstGeom prst="rect">
            <a:avLst/>
          </a:prstGeom>
        </p:spPr>
      </p:pic>
    </p:spTree>
    <p:extLst>
      <p:ext uri="{BB962C8B-B14F-4D97-AF65-F5344CB8AC3E}">
        <p14:creationId xmlns:p14="http://schemas.microsoft.com/office/powerpoint/2010/main" val="26325019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sp>
        <p:nvSpPr>
          <p:cNvPr id="8" name="TextBox 7"/>
          <p:cNvSpPr txBox="1"/>
          <p:nvPr/>
        </p:nvSpPr>
        <p:spPr>
          <a:xfrm>
            <a:off x="182880" y="2048893"/>
            <a:ext cx="11788726" cy="4708981"/>
          </a:xfrm>
          <a:prstGeom prst="rect">
            <a:avLst/>
          </a:prstGeom>
          <a:noFill/>
        </p:spPr>
        <p:txBody>
          <a:bodyPr wrap="square" rtlCol="0">
            <a:spAutoFit/>
          </a:bodyPr>
          <a:lstStyle/>
          <a:p>
            <a:pPr fontAlgn="base"/>
            <a:r>
              <a:rPr lang="en-US" sz="1200" b="1" dirty="0"/>
              <a:t>Purpose:</a:t>
            </a:r>
            <a:r>
              <a:rPr lang="en-US" sz="1200" dirty="0"/>
              <a:t/>
            </a:r>
            <a:br>
              <a:rPr lang="en-US" sz="1200" dirty="0"/>
            </a:br>
            <a:r>
              <a:rPr lang="en-US" sz="1200" dirty="0" smtClean="0"/>
              <a:t>The Business Development Committee dedicated to client (or member) engagement is responsible for fostering strong relationships with clients, identifying opportunities to enhance services, and supporting the growth and sustainability of the trade union through strategic outreach and partnership development.</a:t>
            </a:r>
          </a:p>
          <a:p>
            <a:pPr fontAlgn="base"/>
            <a:endParaRPr lang="en-US" sz="1200" b="1" dirty="0" smtClean="0"/>
          </a:p>
          <a:p>
            <a:pPr fontAlgn="base"/>
            <a:r>
              <a:rPr lang="en-US" sz="1200" b="1" dirty="0" smtClean="0"/>
              <a:t>Client </a:t>
            </a:r>
            <a:r>
              <a:rPr lang="en-US" sz="1200" b="1" dirty="0"/>
              <a:t>Relationship Management:</a:t>
            </a:r>
            <a:endParaRPr lang="en-US" sz="1200" dirty="0"/>
          </a:p>
          <a:p>
            <a:pPr lvl="1" fontAlgn="base"/>
            <a:r>
              <a:rPr lang="en-US" sz="1200" dirty="0"/>
              <a:t>Build and maintain positive relationships with existing clients/members to ensure satisfaction and loyalty.</a:t>
            </a:r>
          </a:p>
          <a:p>
            <a:pPr lvl="1" fontAlgn="base"/>
            <a:r>
              <a:rPr lang="en-US" sz="1200" dirty="0"/>
              <a:t>Act as a primary point of contact for client inquiries, feedback, and support needs.</a:t>
            </a:r>
          </a:p>
          <a:p>
            <a:pPr fontAlgn="base"/>
            <a:r>
              <a:rPr lang="en-US" sz="1200" b="1" dirty="0"/>
              <a:t>Membership Growth and Retention:</a:t>
            </a:r>
            <a:endParaRPr lang="en-US" sz="1200" dirty="0"/>
          </a:p>
          <a:p>
            <a:pPr lvl="1" fontAlgn="base"/>
            <a:r>
              <a:rPr lang="en-US" sz="1200" dirty="0"/>
              <a:t>Develop strategies to attract new clients/members and retain current ones.</a:t>
            </a:r>
          </a:p>
          <a:p>
            <a:pPr lvl="1" fontAlgn="base"/>
            <a:r>
              <a:rPr lang="en-US" sz="1200" dirty="0"/>
              <a:t>Identify and address members’ needs to improve engagement and perceived value.</a:t>
            </a:r>
          </a:p>
          <a:p>
            <a:pPr fontAlgn="base"/>
            <a:r>
              <a:rPr lang="en-US" sz="1200" b="1" dirty="0"/>
              <a:t>Market and Client Needs Analysis:</a:t>
            </a:r>
            <a:endParaRPr lang="en-US" sz="1200" dirty="0"/>
          </a:p>
          <a:p>
            <a:pPr lvl="1" fontAlgn="base"/>
            <a:r>
              <a:rPr lang="en-US" sz="1200" dirty="0"/>
              <a:t>Conduct research to understand client requirements, industry trends, and the competitive landscape.</a:t>
            </a:r>
          </a:p>
          <a:p>
            <a:pPr lvl="1" fontAlgn="base"/>
            <a:r>
              <a:rPr lang="en-US" sz="1200" dirty="0"/>
              <a:t>Use insights to tailor services and develop new initiatives that meet client expectations.</a:t>
            </a:r>
          </a:p>
          <a:p>
            <a:pPr fontAlgn="base"/>
            <a:r>
              <a:rPr lang="en-US" sz="1200" b="1" dirty="0"/>
              <a:t>Promotion of Services and Benefits:</a:t>
            </a:r>
            <a:endParaRPr lang="en-US" sz="1200" dirty="0"/>
          </a:p>
          <a:p>
            <a:pPr lvl="1" fontAlgn="base"/>
            <a:r>
              <a:rPr lang="en-US" sz="1200" dirty="0"/>
              <a:t>Promote the union’s services, programs, and benefits to existing and potential clients/members.</a:t>
            </a:r>
          </a:p>
          <a:p>
            <a:pPr lvl="1" fontAlgn="base"/>
            <a:r>
              <a:rPr lang="en-US" sz="1200" dirty="0"/>
              <a:t>Organize outreach activities, seminars, and informational sessions to increase awareness.</a:t>
            </a:r>
          </a:p>
          <a:p>
            <a:pPr fontAlgn="base"/>
            <a:r>
              <a:rPr lang="en-US" sz="1200" b="1" dirty="0"/>
              <a:t>Partnership and Collaboration Development:</a:t>
            </a:r>
            <a:endParaRPr lang="en-US" sz="1200" dirty="0"/>
          </a:p>
          <a:p>
            <a:pPr lvl="1" fontAlgn="base"/>
            <a:r>
              <a:rPr lang="en-US" sz="1200" dirty="0"/>
              <a:t>Establish strategic partnerships with organizations, industry stakeholders, and service providers that benefit clients/members.</a:t>
            </a:r>
          </a:p>
          <a:p>
            <a:pPr lvl="1" fontAlgn="base"/>
            <a:r>
              <a:rPr lang="en-US" sz="1200" dirty="0"/>
              <a:t>Explore opportunities for joint initiatives or programs that add value.</a:t>
            </a:r>
          </a:p>
          <a:p>
            <a:pPr fontAlgn="base"/>
            <a:r>
              <a:rPr lang="en-US" sz="1200" b="1" dirty="0"/>
              <a:t>Feedback and Continuous Improvement:</a:t>
            </a:r>
            <a:endParaRPr lang="en-US" sz="1200" dirty="0"/>
          </a:p>
          <a:p>
            <a:pPr lvl="1" fontAlgn="base"/>
            <a:r>
              <a:rPr lang="en-US" sz="1200" dirty="0"/>
              <a:t>Gather feedback from clients/members to improve services and address concerns promptly.</a:t>
            </a:r>
          </a:p>
          <a:p>
            <a:pPr lvl="1" fontAlgn="base"/>
            <a:r>
              <a:rPr lang="en-US" sz="1200" dirty="0"/>
              <a:t>Implement improvements based on feedback to enhance client satisfaction.</a:t>
            </a:r>
          </a:p>
          <a:p>
            <a:pPr fontAlgn="base"/>
            <a:r>
              <a:rPr lang="en-US" sz="1200" b="1" dirty="0"/>
              <a:t>Monitoring and Reporting:</a:t>
            </a:r>
            <a:endParaRPr lang="en-US" sz="1200" dirty="0"/>
          </a:p>
          <a:p>
            <a:pPr lvl="1" fontAlgn="base"/>
            <a:r>
              <a:rPr lang="en-US" sz="1200" dirty="0"/>
              <a:t>Track client engagement metrics, satisfaction levels, and growth indicators.</a:t>
            </a:r>
          </a:p>
          <a:p>
            <a:pPr lvl="1" fontAlgn="base"/>
            <a:r>
              <a:rPr lang="en-US" sz="1200" dirty="0"/>
              <a:t>Prepare reports for leadership on client-related activities, opportunities, and challenges.</a:t>
            </a:r>
          </a:p>
        </p:txBody>
      </p:sp>
      <p:sp>
        <p:nvSpPr>
          <p:cNvPr id="5" name="Rectangle 4"/>
          <p:cNvSpPr/>
          <p:nvPr/>
        </p:nvSpPr>
        <p:spPr>
          <a:xfrm>
            <a:off x="1335632" y="1063165"/>
            <a:ext cx="4600934" cy="646331"/>
          </a:xfrm>
          <a:prstGeom prst="rect">
            <a:avLst/>
          </a:prstGeom>
        </p:spPr>
        <p:txBody>
          <a:bodyPr wrap="square">
            <a:spAutoFit/>
          </a:bodyPr>
          <a:lstStyle/>
          <a:p>
            <a:r>
              <a:rPr lang="en-US" b="1" dirty="0" err="1" smtClean="0"/>
              <a:t>Najeeb</a:t>
            </a:r>
            <a:r>
              <a:rPr lang="en-US" b="1" dirty="0" smtClean="0"/>
              <a:t> </a:t>
            </a:r>
            <a:r>
              <a:rPr lang="en-US" b="1" dirty="0" err="1" smtClean="0"/>
              <a:t>Farooqi</a:t>
            </a:r>
            <a:r>
              <a:rPr lang="en-US" b="1" dirty="0" smtClean="0"/>
              <a:t>:</a:t>
            </a:r>
          </a:p>
          <a:p>
            <a:r>
              <a:rPr lang="en-US" dirty="0" smtClean="0"/>
              <a:t>Chairman – Business Development Committee</a:t>
            </a:r>
            <a:endParaRPr lang="en-US" dirty="0"/>
          </a:p>
        </p:txBody>
      </p:sp>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l="53872" t="50430" r="30022" b="34171"/>
          <a:stretch/>
        </p:blipFill>
        <p:spPr>
          <a:xfrm>
            <a:off x="366317" y="878706"/>
            <a:ext cx="785611" cy="1056068"/>
          </a:xfrm>
          <a:prstGeom prst="rect">
            <a:avLst/>
          </a:prstGeom>
        </p:spPr>
      </p:pic>
    </p:spTree>
    <p:extLst>
      <p:ext uri="{BB962C8B-B14F-4D97-AF65-F5344CB8AC3E}">
        <p14:creationId xmlns:p14="http://schemas.microsoft.com/office/powerpoint/2010/main" val="13322940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sp>
        <p:nvSpPr>
          <p:cNvPr id="8" name="TextBox 7"/>
          <p:cNvSpPr txBox="1"/>
          <p:nvPr/>
        </p:nvSpPr>
        <p:spPr>
          <a:xfrm>
            <a:off x="182880" y="2048893"/>
            <a:ext cx="11788726" cy="4770537"/>
          </a:xfrm>
          <a:prstGeom prst="rect">
            <a:avLst/>
          </a:prstGeom>
          <a:noFill/>
        </p:spPr>
        <p:txBody>
          <a:bodyPr wrap="square" rtlCol="0">
            <a:spAutoFit/>
          </a:bodyPr>
          <a:lstStyle/>
          <a:p>
            <a:pPr fontAlgn="base"/>
            <a:r>
              <a:rPr lang="en-US" sz="1200" b="1" dirty="0"/>
              <a:t>Purpose:</a:t>
            </a:r>
            <a:r>
              <a:rPr lang="en-US" sz="1200" dirty="0"/>
              <a:t/>
            </a:r>
            <a:br>
              <a:rPr lang="en-US" sz="1200" dirty="0"/>
            </a:br>
            <a:r>
              <a:rPr lang="en-US" sz="1200" dirty="0"/>
              <a:t>The IT &amp; Social Media Committee is responsible for overseeing the trade association’s digital presence, including information technology infrastructure, online communication channels, and social media platforms. The committee aims to enhance member engagement, promote industry initiatives, and ensure the security and efficiency of digital operations.</a:t>
            </a:r>
          </a:p>
          <a:p>
            <a:pPr fontAlgn="base"/>
            <a:endParaRPr lang="en-US" sz="1200" b="1" dirty="0" smtClean="0"/>
          </a:p>
          <a:p>
            <a:pPr fontAlgn="base"/>
            <a:r>
              <a:rPr lang="en-US" sz="1200" b="1" dirty="0" smtClean="0"/>
              <a:t>Digital </a:t>
            </a:r>
            <a:r>
              <a:rPr lang="en-US" sz="1200" b="1" dirty="0"/>
              <a:t>Strategy Development:</a:t>
            </a:r>
            <a:endParaRPr lang="en-US" sz="1200" dirty="0"/>
          </a:p>
          <a:p>
            <a:pPr lvl="1" fontAlgn="base"/>
            <a:r>
              <a:rPr lang="en-US" sz="1200" dirty="0"/>
              <a:t>Develop and implement strategies to enhance the association’s online presence and digital engagement.</a:t>
            </a:r>
          </a:p>
          <a:p>
            <a:pPr lvl="1" fontAlgn="base"/>
            <a:r>
              <a:rPr lang="en-US" sz="1200" dirty="0"/>
              <a:t>Identify opportunities for leveraging social media and digital tools to promote industry initiatives and member activities.</a:t>
            </a:r>
          </a:p>
          <a:p>
            <a:pPr fontAlgn="base"/>
            <a:r>
              <a:rPr lang="en-US" sz="1200" b="1" dirty="0"/>
              <a:t>Social Media Management:</a:t>
            </a:r>
            <a:endParaRPr lang="en-US" sz="1200" dirty="0"/>
          </a:p>
          <a:p>
            <a:pPr lvl="1" fontAlgn="base"/>
            <a:r>
              <a:rPr lang="en-US" sz="1200" dirty="0"/>
              <a:t>Oversee the creation, scheduling, and posting of content across social media platforms (e.g., LinkedIn, Twitter, Facebook).</a:t>
            </a:r>
          </a:p>
          <a:p>
            <a:pPr lvl="1" fontAlgn="base"/>
            <a:r>
              <a:rPr lang="en-US" sz="1200" dirty="0"/>
              <a:t>Monitor social media channels for engagement, inquiries, and industry trends.</a:t>
            </a:r>
          </a:p>
          <a:p>
            <a:pPr lvl="1" fontAlgn="base"/>
            <a:r>
              <a:rPr lang="en-US" sz="1200" dirty="0"/>
              <a:t>Develop campaigns to increase followers, engagement, and industry awareness.</a:t>
            </a:r>
          </a:p>
          <a:p>
            <a:pPr fontAlgn="base"/>
            <a:r>
              <a:rPr lang="en-US" sz="1200" b="1" dirty="0"/>
              <a:t>IT Infrastructure Oversight:</a:t>
            </a:r>
            <a:endParaRPr lang="en-US" sz="1200" dirty="0"/>
          </a:p>
          <a:p>
            <a:pPr lvl="1" fontAlgn="base"/>
            <a:r>
              <a:rPr lang="en-US" sz="1200" dirty="0"/>
              <a:t>Ensure the security, reliability, and efficiency of the association’s IT systems and networks.</a:t>
            </a:r>
          </a:p>
          <a:p>
            <a:pPr lvl="1" fontAlgn="base"/>
            <a:r>
              <a:rPr lang="en-US" sz="1200" dirty="0"/>
              <a:t>Collaborate with IT service providers to maintain hardware, software, and </a:t>
            </a:r>
            <a:r>
              <a:rPr lang="en-US" sz="1200" dirty="0" smtClean="0"/>
              <a:t>cyber security </a:t>
            </a:r>
            <a:r>
              <a:rPr lang="en-US" sz="1200" dirty="0"/>
              <a:t>measures.</a:t>
            </a:r>
          </a:p>
          <a:p>
            <a:pPr fontAlgn="base"/>
            <a:r>
              <a:rPr lang="en-US" sz="1200" b="1" dirty="0"/>
              <a:t>Content Creation and Management:</a:t>
            </a:r>
            <a:endParaRPr lang="en-US" sz="1200" dirty="0"/>
          </a:p>
          <a:p>
            <a:pPr lvl="1" fontAlgn="base"/>
            <a:r>
              <a:rPr lang="en-US" sz="1200" dirty="0"/>
              <a:t>Coordinate the development of digital content such as newsletters, blogs, videos, and webinars.</a:t>
            </a:r>
          </a:p>
          <a:p>
            <a:pPr lvl="1" fontAlgn="base"/>
            <a:r>
              <a:rPr lang="en-US" sz="1200" dirty="0"/>
              <a:t>Maintain the association’s website, ensuring content is current, accurate, and accessible.</a:t>
            </a:r>
          </a:p>
          <a:p>
            <a:pPr fontAlgn="base"/>
            <a:r>
              <a:rPr lang="en-US" sz="1200" b="1" dirty="0"/>
              <a:t>Member Engagement and Support:</a:t>
            </a:r>
            <a:endParaRPr lang="en-US" sz="1200" dirty="0"/>
          </a:p>
          <a:p>
            <a:pPr lvl="1" fontAlgn="base"/>
            <a:r>
              <a:rPr lang="en-US" sz="1200" dirty="0"/>
              <a:t>Facilitate communication channels for members through digital platforms.</a:t>
            </a:r>
          </a:p>
          <a:p>
            <a:pPr lvl="1" fontAlgn="base"/>
            <a:r>
              <a:rPr lang="en-US" sz="1200" dirty="0"/>
              <a:t>Provide support and training to members on digital tools and social media best practices.</a:t>
            </a:r>
          </a:p>
          <a:p>
            <a:pPr fontAlgn="base"/>
            <a:r>
              <a:rPr lang="en-US" sz="1200" b="1" dirty="0"/>
              <a:t>Monitoring and Reporting:</a:t>
            </a:r>
            <a:endParaRPr lang="en-US" sz="1200" dirty="0"/>
          </a:p>
          <a:p>
            <a:pPr lvl="1" fontAlgn="base"/>
            <a:r>
              <a:rPr lang="en-US" sz="1200" dirty="0"/>
              <a:t>Track analytics related to website traffic, social media engagement, and digital campaigns.</a:t>
            </a:r>
          </a:p>
          <a:p>
            <a:pPr lvl="1" fontAlgn="base"/>
            <a:r>
              <a:rPr lang="en-US" sz="1200" dirty="0"/>
              <a:t>Prepare reports on digital activity performance and recommend improvements.</a:t>
            </a:r>
          </a:p>
          <a:p>
            <a:pPr fontAlgn="base"/>
            <a:r>
              <a:rPr lang="en-US" sz="1400" b="1" dirty="0"/>
              <a:t>Policy and Compliance:</a:t>
            </a:r>
            <a:endParaRPr lang="en-US" sz="1400" dirty="0"/>
          </a:p>
          <a:p>
            <a:pPr lvl="1" fontAlgn="base"/>
            <a:r>
              <a:rPr lang="en-US" sz="1400" dirty="0"/>
              <a:t>Ensure all digital activities comply with relevant privacy laws, data protection regulations, and industry standards.</a:t>
            </a:r>
          </a:p>
        </p:txBody>
      </p:sp>
      <p:sp>
        <p:nvSpPr>
          <p:cNvPr id="5" name="Rectangle 4"/>
          <p:cNvSpPr/>
          <p:nvPr/>
        </p:nvSpPr>
        <p:spPr>
          <a:xfrm>
            <a:off x="1335632" y="1063165"/>
            <a:ext cx="4038226" cy="646331"/>
          </a:xfrm>
          <a:prstGeom prst="rect">
            <a:avLst/>
          </a:prstGeom>
        </p:spPr>
        <p:txBody>
          <a:bodyPr wrap="square">
            <a:spAutoFit/>
          </a:bodyPr>
          <a:lstStyle/>
          <a:p>
            <a:r>
              <a:rPr lang="en-US" b="1" dirty="0" smtClean="0"/>
              <a:t>Syed </a:t>
            </a:r>
            <a:r>
              <a:rPr lang="en-US" b="1" dirty="0" err="1" smtClean="0"/>
              <a:t>Ammar</a:t>
            </a:r>
            <a:r>
              <a:rPr lang="en-US" b="1" dirty="0" smtClean="0"/>
              <a:t> </a:t>
            </a:r>
            <a:r>
              <a:rPr lang="en-US" b="1" dirty="0" err="1" smtClean="0"/>
              <a:t>ul</a:t>
            </a:r>
            <a:r>
              <a:rPr lang="en-US" b="1" dirty="0" smtClean="0"/>
              <a:t> </a:t>
            </a:r>
            <a:r>
              <a:rPr lang="en-US" b="1" dirty="0" err="1" smtClean="0"/>
              <a:t>Hasan</a:t>
            </a:r>
            <a:r>
              <a:rPr lang="en-US" b="1" dirty="0" smtClean="0"/>
              <a:t> Naqvi:</a:t>
            </a:r>
          </a:p>
          <a:p>
            <a:r>
              <a:rPr lang="en-US" dirty="0" smtClean="0"/>
              <a:t>Chairman – IT &amp; Social Media Committee</a:t>
            </a:r>
            <a:endParaRPr lang="en-US" dirty="0"/>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41822" t="72086" r="42072" b="12138"/>
          <a:stretch/>
        </p:blipFill>
        <p:spPr>
          <a:xfrm>
            <a:off x="366317" y="878706"/>
            <a:ext cx="785611" cy="1081825"/>
          </a:xfrm>
          <a:prstGeom prst="rect">
            <a:avLst/>
          </a:prstGeom>
        </p:spPr>
      </p:pic>
    </p:spTree>
    <p:extLst>
      <p:ext uri="{BB962C8B-B14F-4D97-AF65-F5344CB8AC3E}">
        <p14:creationId xmlns:p14="http://schemas.microsoft.com/office/powerpoint/2010/main" val="3778802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7581" t="71685" r="66313" b="12916"/>
          <a:stretch/>
        </p:blipFill>
        <p:spPr>
          <a:xfrm>
            <a:off x="366317" y="904463"/>
            <a:ext cx="785611" cy="1056068"/>
          </a:xfrm>
          <a:prstGeom prst="rect">
            <a:avLst/>
          </a:prstGeom>
        </p:spPr>
      </p:pic>
      <p:sp>
        <p:nvSpPr>
          <p:cNvPr id="8" name="TextBox 7"/>
          <p:cNvSpPr txBox="1"/>
          <p:nvPr/>
        </p:nvSpPr>
        <p:spPr>
          <a:xfrm>
            <a:off x="225083" y="2604004"/>
            <a:ext cx="11788726" cy="3785652"/>
          </a:xfrm>
          <a:prstGeom prst="rect">
            <a:avLst/>
          </a:prstGeom>
          <a:noFill/>
        </p:spPr>
        <p:txBody>
          <a:bodyPr wrap="square" rtlCol="0">
            <a:spAutoFit/>
          </a:bodyPr>
          <a:lstStyle/>
          <a:p>
            <a:pPr fontAlgn="base"/>
            <a:r>
              <a:rPr lang="en-US" sz="1200" dirty="0" smtClean="0"/>
              <a:t>A </a:t>
            </a:r>
            <a:r>
              <a:rPr lang="en-US" sz="1200" dirty="0"/>
              <a:t>fabrication committee within a trade association typically has the following job responsibilities</a:t>
            </a:r>
            <a:r>
              <a:rPr lang="en-US" sz="1200" dirty="0" smtClean="0"/>
              <a:t>:</a:t>
            </a:r>
          </a:p>
          <a:p>
            <a:pPr fontAlgn="base"/>
            <a:endParaRPr lang="en-US" sz="1200" dirty="0"/>
          </a:p>
          <a:p>
            <a:pPr fontAlgn="base"/>
            <a:r>
              <a:rPr lang="en-US" sz="1200" b="1" dirty="0"/>
              <a:t>Developing Standards and Best Practices:</a:t>
            </a:r>
            <a:r>
              <a:rPr lang="en-US" sz="1200" dirty="0"/>
              <a:t> Establish and promote industry standards, guidelines, and best practices related to fabrication processes to ensure quality, safety, and consistency across the industry.</a:t>
            </a:r>
          </a:p>
          <a:p>
            <a:pPr fontAlgn="base"/>
            <a:endParaRPr lang="en-US" sz="1200" b="1" dirty="0" smtClean="0"/>
          </a:p>
          <a:p>
            <a:pPr fontAlgn="base"/>
            <a:r>
              <a:rPr lang="en-US" sz="1200" b="1" dirty="0" smtClean="0"/>
              <a:t>Policy </a:t>
            </a:r>
            <a:r>
              <a:rPr lang="en-US" sz="1200" b="1" dirty="0"/>
              <a:t>and Advocacy:</a:t>
            </a:r>
            <a:r>
              <a:rPr lang="en-US" sz="1200" dirty="0"/>
              <a:t> Advocate for policies and regulations that benefit the fabrication sector, representing the interests of member organizations within the trade association.</a:t>
            </a:r>
          </a:p>
          <a:p>
            <a:pPr fontAlgn="base"/>
            <a:endParaRPr lang="en-US" sz="1200" b="1" dirty="0" smtClean="0"/>
          </a:p>
          <a:p>
            <a:pPr fontAlgn="base"/>
            <a:r>
              <a:rPr lang="en-US" sz="1200" b="1" dirty="0" smtClean="0"/>
              <a:t>Education </a:t>
            </a:r>
            <a:r>
              <a:rPr lang="en-US" sz="1200" b="1" dirty="0"/>
              <a:t>and Training:</a:t>
            </a:r>
            <a:r>
              <a:rPr lang="en-US" sz="1200" dirty="0"/>
              <a:t> Organize seminars, workshops, and training programs to enhance the skills and knowledge of industry professionals involved in fabrication activities.</a:t>
            </a:r>
          </a:p>
          <a:p>
            <a:pPr fontAlgn="base"/>
            <a:endParaRPr lang="en-US" sz="1200" b="1" dirty="0" smtClean="0"/>
          </a:p>
          <a:p>
            <a:pPr fontAlgn="base"/>
            <a:r>
              <a:rPr lang="en-US" sz="1200" b="1" dirty="0" smtClean="0"/>
              <a:t>Industry </a:t>
            </a:r>
            <a:r>
              <a:rPr lang="en-US" sz="1200" b="1" dirty="0"/>
              <a:t>Collaboration:</a:t>
            </a:r>
            <a:r>
              <a:rPr lang="en-US" sz="1200" dirty="0"/>
              <a:t> Facilitate communication and collaboration among members, manufacturers, suppliers, and other stakeholders to address common challenges and share innovations.</a:t>
            </a:r>
          </a:p>
          <a:p>
            <a:pPr fontAlgn="base"/>
            <a:endParaRPr lang="en-US" sz="1200" b="1" dirty="0" smtClean="0"/>
          </a:p>
          <a:p>
            <a:pPr fontAlgn="base"/>
            <a:r>
              <a:rPr lang="en-US" sz="1200" b="1" dirty="0" smtClean="0"/>
              <a:t>Research </a:t>
            </a:r>
            <a:r>
              <a:rPr lang="en-US" sz="1200" b="1" dirty="0"/>
              <a:t>and Development:</a:t>
            </a:r>
            <a:r>
              <a:rPr lang="en-US" sz="1200" dirty="0"/>
              <a:t> Support or initiate research projects aimed at improving fabrication techniques, materials, and technologies.</a:t>
            </a:r>
          </a:p>
          <a:p>
            <a:pPr fontAlgn="base"/>
            <a:endParaRPr lang="en-US" sz="1200" b="1" dirty="0" smtClean="0"/>
          </a:p>
          <a:p>
            <a:pPr fontAlgn="base"/>
            <a:r>
              <a:rPr lang="en-US" sz="1200" b="1" dirty="0" smtClean="0"/>
              <a:t>Quality </a:t>
            </a:r>
            <a:r>
              <a:rPr lang="en-US" sz="1200" b="1" dirty="0"/>
              <a:t>Assurance:</a:t>
            </a:r>
            <a:r>
              <a:rPr lang="en-US" sz="1200" dirty="0"/>
              <a:t> Monitor industry trends and ensure that fabrication practices adhere to established standards, promoting quality and safety.</a:t>
            </a:r>
          </a:p>
          <a:p>
            <a:pPr fontAlgn="base"/>
            <a:endParaRPr lang="en-US" sz="1200" b="1" dirty="0" smtClean="0"/>
          </a:p>
          <a:p>
            <a:pPr fontAlgn="base"/>
            <a:r>
              <a:rPr lang="en-US" sz="1200" b="1" dirty="0" smtClean="0"/>
              <a:t>Membership </a:t>
            </a:r>
            <a:r>
              <a:rPr lang="en-US" sz="1200" b="1" dirty="0"/>
              <a:t>Engagement:</a:t>
            </a:r>
            <a:r>
              <a:rPr lang="en-US" sz="1200" dirty="0"/>
              <a:t> Encourage active participation from members in committee activities and initiatives to foster a collaborative industry environment.</a:t>
            </a:r>
          </a:p>
          <a:p>
            <a:pPr fontAlgn="base"/>
            <a:endParaRPr lang="en-US" sz="1200" b="1" dirty="0" smtClean="0"/>
          </a:p>
          <a:p>
            <a:pPr fontAlgn="base"/>
            <a:r>
              <a:rPr lang="en-US" sz="1200" b="1" dirty="0" smtClean="0"/>
              <a:t>Reporting </a:t>
            </a:r>
            <a:r>
              <a:rPr lang="en-US" sz="1200" b="1" dirty="0"/>
              <a:t>and </a:t>
            </a:r>
            <a:r>
              <a:rPr lang="en-US" sz="1200" b="1" dirty="0" smtClean="0"/>
              <a:t>Documentation: </a:t>
            </a:r>
            <a:r>
              <a:rPr lang="en-US" sz="1200" dirty="0" smtClean="0"/>
              <a:t>Prepare </a:t>
            </a:r>
            <a:r>
              <a:rPr lang="en-US" sz="1200" dirty="0"/>
              <a:t>reports, publications, and updates on industry developments, standards, and committee activities for dissemination among members and stakeholders</a:t>
            </a:r>
            <a:r>
              <a:rPr lang="en-US" sz="1200" dirty="0" smtClean="0"/>
              <a:t>.</a:t>
            </a:r>
          </a:p>
        </p:txBody>
      </p:sp>
      <p:sp>
        <p:nvSpPr>
          <p:cNvPr id="5" name="Rectangle 4"/>
          <p:cNvSpPr/>
          <p:nvPr/>
        </p:nvSpPr>
        <p:spPr>
          <a:xfrm>
            <a:off x="1335632" y="1063165"/>
            <a:ext cx="4038226" cy="646331"/>
          </a:xfrm>
          <a:prstGeom prst="rect">
            <a:avLst/>
          </a:prstGeom>
        </p:spPr>
        <p:txBody>
          <a:bodyPr wrap="square">
            <a:spAutoFit/>
          </a:bodyPr>
          <a:lstStyle/>
          <a:p>
            <a:r>
              <a:rPr lang="en-US" b="1" dirty="0" smtClean="0"/>
              <a:t>Muhammad </a:t>
            </a:r>
            <a:r>
              <a:rPr lang="en-US" b="1" dirty="0" err="1" smtClean="0"/>
              <a:t>Zaffar</a:t>
            </a:r>
            <a:r>
              <a:rPr lang="en-US" b="1" dirty="0" smtClean="0"/>
              <a:t>:</a:t>
            </a:r>
          </a:p>
          <a:p>
            <a:r>
              <a:rPr lang="en-US" dirty="0" smtClean="0"/>
              <a:t>Chairman – Fabrication Committee</a:t>
            </a:r>
            <a:endParaRPr lang="en-US" dirty="0"/>
          </a:p>
        </p:txBody>
      </p:sp>
    </p:spTree>
    <p:extLst>
      <p:ext uri="{BB962C8B-B14F-4D97-AF65-F5344CB8AC3E}">
        <p14:creationId xmlns:p14="http://schemas.microsoft.com/office/powerpoint/2010/main" val="28817110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14868" y="319688"/>
            <a:ext cx="2205412" cy="584775"/>
          </a:xfrm>
          <a:prstGeom prst="rect">
            <a:avLst/>
          </a:prstGeom>
        </p:spPr>
        <p:txBody>
          <a:bodyPr wrap="none">
            <a:spAutoFit/>
          </a:bodyPr>
          <a:lstStyle/>
          <a:p>
            <a:pPr algn="just"/>
            <a:r>
              <a:rPr lang="en-US" sz="3200" dirty="0" smtClean="0"/>
              <a:t>Committees</a:t>
            </a:r>
          </a:p>
        </p:txBody>
      </p:sp>
      <p:sp>
        <p:nvSpPr>
          <p:cNvPr id="8" name="TextBox 7"/>
          <p:cNvSpPr txBox="1"/>
          <p:nvPr/>
        </p:nvSpPr>
        <p:spPr>
          <a:xfrm>
            <a:off x="182880" y="2048893"/>
            <a:ext cx="11788726" cy="4154984"/>
          </a:xfrm>
          <a:prstGeom prst="rect">
            <a:avLst/>
          </a:prstGeom>
          <a:noFill/>
        </p:spPr>
        <p:txBody>
          <a:bodyPr wrap="square" rtlCol="0">
            <a:spAutoFit/>
          </a:bodyPr>
          <a:lstStyle/>
          <a:p>
            <a:pPr fontAlgn="base"/>
            <a:r>
              <a:rPr lang="en-US" sz="1200" b="1" dirty="0"/>
              <a:t>Purpose:</a:t>
            </a:r>
            <a:r>
              <a:rPr lang="en-US" sz="1200" dirty="0"/>
              <a:t/>
            </a:r>
            <a:br>
              <a:rPr lang="en-US" sz="1200" dirty="0"/>
            </a:br>
            <a:r>
              <a:rPr lang="en-US" sz="1200" dirty="0"/>
              <a:t>The CSR Committee is responsible for guiding and promoting the trade association’s initiatives related to corporate social responsibility. Its goal is to foster sustainable practices, community engagement, and ethical standards among member organizations, thereby enhancing the industry’s positive impact on society and the environment.</a:t>
            </a:r>
          </a:p>
          <a:p>
            <a:pPr fontAlgn="base"/>
            <a:r>
              <a:rPr lang="en-US" sz="1200" b="1" dirty="0"/>
              <a:t>Key Responsibilities:</a:t>
            </a:r>
            <a:endParaRPr lang="en-US" sz="1200" dirty="0"/>
          </a:p>
          <a:p>
            <a:pPr fontAlgn="base"/>
            <a:r>
              <a:rPr lang="en-US" sz="1200" b="1" dirty="0"/>
              <a:t>Develop CSR Strategies:</a:t>
            </a:r>
            <a:endParaRPr lang="en-US" sz="1200" dirty="0"/>
          </a:p>
          <a:p>
            <a:pPr lvl="1" fontAlgn="base"/>
            <a:r>
              <a:rPr lang="en-US" sz="1200" dirty="0"/>
              <a:t>Formulate and recommend CSR policies and initiatives aligned with industry values and community needs.</a:t>
            </a:r>
          </a:p>
          <a:p>
            <a:pPr lvl="1" fontAlgn="base"/>
            <a:r>
              <a:rPr lang="en-US" sz="1200" dirty="0"/>
              <a:t>Identify key areas such as environmental sustainability, social welfare, education, and community development.</a:t>
            </a:r>
          </a:p>
          <a:p>
            <a:pPr fontAlgn="base"/>
            <a:r>
              <a:rPr lang="en-US" sz="1200" b="1" dirty="0"/>
              <a:t>Promote Member Engagement:</a:t>
            </a:r>
            <a:endParaRPr lang="en-US" sz="1200" dirty="0"/>
          </a:p>
          <a:p>
            <a:pPr lvl="1" fontAlgn="base"/>
            <a:r>
              <a:rPr lang="en-US" sz="1200" dirty="0"/>
              <a:t>Encourage member organizations to adopt and implement CSR practices.</a:t>
            </a:r>
          </a:p>
          <a:p>
            <a:pPr lvl="1" fontAlgn="base"/>
            <a:r>
              <a:rPr lang="en-US" sz="1200" dirty="0"/>
              <a:t>Facilitate knowledge sharing, best practices, and success stories among members.</a:t>
            </a:r>
          </a:p>
          <a:p>
            <a:pPr fontAlgn="base"/>
            <a:r>
              <a:rPr lang="en-US" sz="1200" b="1" dirty="0"/>
              <a:t>Program Planning and Implementation:</a:t>
            </a:r>
            <a:endParaRPr lang="en-US" sz="1200" dirty="0"/>
          </a:p>
          <a:p>
            <a:pPr lvl="1" fontAlgn="base"/>
            <a:r>
              <a:rPr lang="en-US" sz="1200" dirty="0"/>
              <a:t>Design and oversee CSR projects, campaigns, and partnerships with NGOs, government agencies, and community groups.</a:t>
            </a:r>
          </a:p>
          <a:p>
            <a:pPr lvl="1" fontAlgn="base"/>
            <a:r>
              <a:rPr lang="en-US" sz="1200" dirty="0"/>
              <a:t>Monitor the progress and impact of CSR initiatives.</a:t>
            </a:r>
          </a:p>
          <a:p>
            <a:pPr fontAlgn="base"/>
            <a:r>
              <a:rPr lang="en-US" sz="1200" b="1" dirty="0"/>
              <a:t>Awareness and Education:</a:t>
            </a:r>
            <a:endParaRPr lang="en-US" sz="1200" dirty="0"/>
          </a:p>
          <a:p>
            <a:pPr lvl="1" fontAlgn="base"/>
            <a:r>
              <a:rPr lang="en-US" sz="1200" dirty="0"/>
              <a:t>Organize workshops, seminars, and awareness campaigns to promote CSR principles within the industry.</a:t>
            </a:r>
          </a:p>
          <a:p>
            <a:pPr lvl="1" fontAlgn="base"/>
            <a:r>
              <a:rPr lang="en-US" sz="1200" dirty="0"/>
              <a:t>Provide resources and guidance to members on integrating CSR into their business operations.</a:t>
            </a:r>
          </a:p>
          <a:p>
            <a:pPr fontAlgn="base"/>
            <a:r>
              <a:rPr lang="en-US" sz="1200" b="1" dirty="0"/>
              <a:t>Monitoring and Reporting:</a:t>
            </a:r>
            <a:endParaRPr lang="en-US" sz="1200" dirty="0"/>
          </a:p>
          <a:p>
            <a:pPr lvl="1" fontAlgn="base"/>
            <a:r>
              <a:rPr lang="en-US" sz="1200" dirty="0"/>
              <a:t>Track the outcomes and social/environmental impact of CSR activities.</a:t>
            </a:r>
          </a:p>
          <a:p>
            <a:pPr lvl="1" fontAlgn="base"/>
            <a:r>
              <a:rPr lang="en-US" sz="1200" dirty="0"/>
              <a:t>Prepare reports and communicate results to stakeholders, including members, industry partners, and the public.</a:t>
            </a:r>
          </a:p>
          <a:p>
            <a:pPr fontAlgn="base"/>
            <a:r>
              <a:rPr lang="en-US" sz="1200" b="1" dirty="0"/>
              <a:t>Compliance and Ethical Standards:</a:t>
            </a:r>
            <a:endParaRPr lang="en-US" sz="1200" dirty="0"/>
          </a:p>
          <a:p>
            <a:pPr lvl="1" fontAlgn="base"/>
            <a:r>
              <a:rPr lang="en-US" sz="1200" dirty="0"/>
              <a:t>Ensure CSR activities adhere to legal requirements, ethical standards, and best practices.</a:t>
            </a:r>
          </a:p>
          <a:p>
            <a:pPr lvl="1" fontAlgn="base"/>
            <a:r>
              <a:rPr lang="en-US" sz="1200" dirty="0"/>
              <a:t>Promote transparency and accountability in all CSR endeavors.</a:t>
            </a:r>
          </a:p>
        </p:txBody>
      </p:sp>
      <p:sp>
        <p:nvSpPr>
          <p:cNvPr id="5" name="Rectangle 4"/>
          <p:cNvSpPr/>
          <p:nvPr/>
        </p:nvSpPr>
        <p:spPr>
          <a:xfrm>
            <a:off x="1335632" y="1063165"/>
            <a:ext cx="4038226" cy="646331"/>
          </a:xfrm>
          <a:prstGeom prst="rect">
            <a:avLst/>
          </a:prstGeom>
        </p:spPr>
        <p:txBody>
          <a:bodyPr wrap="square">
            <a:spAutoFit/>
          </a:bodyPr>
          <a:lstStyle/>
          <a:p>
            <a:r>
              <a:rPr lang="en-US" b="1" dirty="0" smtClean="0"/>
              <a:t>Muhammad </a:t>
            </a:r>
            <a:r>
              <a:rPr lang="en-US" b="1" dirty="0" err="1" smtClean="0"/>
              <a:t>Javaid</a:t>
            </a:r>
            <a:r>
              <a:rPr lang="en-US" b="1" dirty="0" smtClean="0"/>
              <a:t>:</a:t>
            </a:r>
          </a:p>
          <a:p>
            <a:r>
              <a:rPr lang="en-US" dirty="0" smtClean="0"/>
              <a:t>Chairman – CSR Committee</a:t>
            </a:r>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65826" t="72072" r="18068" b="12529"/>
          <a:stretch/>
        </p:blipFill>
        <p:spPr>
          <a:xfrm>
            <a:off x="424607" y="653428"/>
            <a:ext cx="785611" cy="1056068"/>
          </a:xfrm>
          <a:prstGeom prst="rect">
            <a:avLst/>
          </a:prstGeom>
        </p:spPr>
      </p:pic>
    </p:spTree>
    <p:extLst>
      <p:ext uri="{BB962C8B-B14F-4D97-AF65-F5344CB8AC3E}">
        <p14:creationId xmlns:p14="http://schemas.microsoft.com/office/powerpoint/2010/main" val="1492012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02276" y="528034"/>
            <a:ext cx="10869769" cy="7017306"/>
          </a:xfrm>
          <a:prstGeom prst="rect">
            <a:avLst/>
          </a:prstGeom>
          <a:noFill/>
        </p:spPr>
        <p:txBody>
          <a:bodyPr wrap="square" rtlCol="0">
            <a:spAutoFit/>
          </a:bodyPr>
          <a:lstStyle/>
          <a:p>
            <a:r>
              <a:rPr lang="en-US" b="1" dirty="0" smtClean="0"/>
              <a:t>1. Create Account:</a:t>
            </a:r>
          </a:p>
          <a:p>
            <a:r>
              <a:rPr lang="en-US" dirty="0" smtClean="0"/>
              <a:t>SOAA Member will create his account and use the member portal.</a:t>
            </a:r>
          </a:p>
          <a:p>
            <a:endParaRPr lang="en-US" dirty="0"/>
          </a:p>
          <a:p>
            <a:r>
              <a:rPr lang="en-US" b="1" dirty="0" smtClean="0"/>
              <a:t>2. Become a member:</a:t>
            </a:r>
          </a:p>
          <a:p>
            <a:r>
              <a:rPr lang="en-US" dirty="0" smtClean="0"/>
              <a:t>New Member fill the form online, after submitting the form Managing Body will approved the </a:t>
            </a:r>
            <a:r>
              <a:rPr lang="en-US" smtClean="0"/>
              <a:t>same.</a:t>
            </a:r>
          </a:p>
          <a:p>
            <a:endParaRPr lang="en-US" dirty="0" smtClean="0"/>
          </a:p>
          <a:p>
            <a:r>
              <a:rPr lang="en-US" b="1" dirty="0" smtClean="0"/>
              <a:t>3. Member Benefit:</a:t>
            </a:r>
          </a:p>
          <a:p>
            <a:pPr fontAlgn="base"/>
            <a:r>
              <a:rPr lang="en-US" sz="1200" b="1" dirty="0"/>
              <a:t>Industry Representation and Advocacy:</a:t>
            </a:r>
            <a:endParaRPr lang="en-US" sz="1200" dirty="0"/>
          </a:p>
          <a:p>
            <a:pPr fontAlgn="base"/>
            <a:r>
              <a:rPr lang="en-US" sz="1200" dirty="0"/>
              <a:t>Gain a collective voice to advocate for favorable policies, regulations, and industry standards.</a:t>
            </a:r>
          </a:p>
          <a:p>
            <a:pPr fontAlgn="base"/>
            <a:r>
              <a:rPr lang="en-US" sz="1200" dirty="0"/>
              <a:t>Influence legislative and regulatory decisions affecting the OOH media sector.</a:t>
            </a:r>
          </a:p>
          <a:p>
            <a:pPr fontAlgn="base"/>
            <a:r>
              <a:rPr lang="en-US" sz="1200" b="1" dirty="0"/>
              <a:t>Networking Opportunities:</a:t>
            </a:r>
            <a:endParaRPr lang="en-US" sz="1200" dirty="0"/>
          </a:p>
          <a:p>
            <a:pPr fontAlgn="base"/>
            <a:r>
              <a:rPr lang="en-US" sz="1200" dirty="0"/>
              <a:t>Connect with industry peers, advertisers, agencies, and other stakeholders through events, seminars, and forums.</a:t>
            </a:r>
          </a:p>
          <a:p>
            <a:pPr fontAlgn="base"/>
            <a:r>
              <a:rPr lang="en-US" sz="1200" dirty="0"/>
              <a:t>Build strategic partnerships and collaborations to expand business opportunities.</a:t>
            </a:r>
          </a:p>
          <a:p>
            <a:pPr fontAlgn="base"/>
            <a:r>
              <a:rPr lang="en-US" sz="1200" b="1" dirty="0"/>
              <a:t>Knowledge Sharing and Best Practices:</a:t>
            </a:r>
            <a:endParaRPr lang="en-US" sz="1200" dirty="0"/>
          </a:p>
          <a:p>
            <a:pPr fontAlgn="base"/>
            <a:r>
              <a:rPr lang="en-US" sz="1200" dirty="0"/>
              <a:t>Access industry reports, research, and market insights to stay informed about trends and innovations.</a:t>
            </a:r>
          </a:p>
          <a:p>
            <a:pPr fontAlgn="base"/>
            <a:r>
              <a:rPr lang="en-US" sz="1200" dirty="0"/>
              <a:t>Participate in workshops and training sessions to enhance operational efficiency and technological adoption.</a:t>
            </a:r>
          </a:p>
          <a:p>
            <a:pPr fontAlgn="base"/>
            <a:r>
              <a:rPr lang="en-US" sz="1200" b="1" dirty="0"/>
              <a:t>Business Development and Lead Generation:</a:t>
            </a:r>
            <a:endParaRPr lang="en-US" sz="1200" dirty="0"/>
          </a:p>
          <a:p>
            <a:pPr fontAlgn="base"/>
            <a:r>
              <a:rPr lang="en-US" sz="1200" dirty="0"/>
              <a:t>Benefit from the association’s promotional activities, directories, and industry events to attract new clients and advertisers.</a:t>
            </a:r>
          </a:p>
          <a:p>
            <a:pPr fontAlgn="base"/>
            <a:r>
              <a:rPr lang="en-US" sz="1200" dirty="0"/>
              <a:t>Increase visibility among potential partners and customers.</a:t>
            </a:r>
          </a:p>
          <a:p>
            <a:pPr fontAlgn="base"/>
            <a:r>
              <a:rPr lang="en-US" sz="1200" b="1" dirty="0"/>
              <a:t>Access to Industry Resources:</a:t>
            </a:r>
            <a:endParaRPr lang="en-US" sz="1200" dirty="0"/>
          </a:p>
          <a:p>
            <a:pPr fontAlgn="base"/>
            <a:r>
              <a:rPr lang="en-US" sz="1200" dirty="0"/>
              <a:t>Utilize resources such as legal guidance, standardization documents, and technical support.</a:t>
            </a:r>
          </a:p>
          <a:p>
            <a:pPr fontAlgn="base"/>
            <a:r>
              <a:rPr lang="en-US" sz="1200" dirty="0"/>
              <a:t>Stay updated on compliance requirements and industry regulations.</a:t>
            </a:r>
          </a:p>
          <a:p>
            <a:pPr fontAlgn="base"/>
            <a:r>
              <a:rPr lang="en-US" sz="1200" b="1" dirty="0"/>
              <a:t>Brand Credibility and Industry Recognition:</a:t>
            </a:r>
            <a:endParaRPr lang="en-US" sz="1200" dirty="0"/>
          </a:p>
          <a:p>
            <a:pPr fontAlgn="base"/>
            <a:r>
              <a:rPr lang="en-US" sz="1200" dirty="0"/>
              <a:t>Enhance reputation by being associated with a reputable trade body.</a:t>
            </a:r>
          </a:p>
          <a:p>
            <a:pPr fontAlgn="base"/>
            <a:r>
              <a:rPr lang="en-US" sz="1200" dirty="0"/>
              <a:t>Participate in awards, recognition programs, and industry rankings to showcase achievements.</a:t>
            </a:r>
          </a:p>
          <a:p>
            <a:pPr fontAlgn="base"/>
            <a:r>
              <a:rPr lang="en-US" sz="1200" b="1" dirty="0"/>
              <a:t>Collaborative Marketing and Campaigns:</a:t>
            </a:r>
            <a:endParaRPr lang="en-US" sz="1200" dirty="0"/>
          </a:p>
          <a:p>
            <a:pPr fontAlgn="base"/>
            <a:r>
              <a:rPr lang="en-US" sz="1200" dirty="0"/>
              <a:t>Engage in joint marketing initiatives, campaigns, and industry promotions organized by the association.</a:t>
            </a:r>
          </a:p>
          <a:p>
            <a:pPr fontAlgn="base"/>
            <a:r>
              <a:rPr lang="en-US" sz="1200" dirty="0"/>
              <a:t>Leverage collective branding to increase market presence.</a:t>
            </a:r>
          </a:p>
          <a:p>
            <a:pPr fontAlgn="base"/>
            <a:r>
              <a:rPr lang="en-US" sz="1200" b="1" dirty="0"/>
              <a:t>Cost Savings and Support Services:</a:t>
            </a:r>
            <a:endParaRPr lang="en-US" sz="1200" dirty="0"/>
          </a:p>
          <a:p>
            <a:pPr fontAlgn="base"/>
            <a:r>
              <a:rPr lang="en-US" sz="1200" dirty="0"/>
              <a:t>Access discounted rates for events, training, and industry services.</a:t>
            </a:r>
          </a:p>
          <a:p>
            <a:pPr fontAlgn="base"/>
            <a:r>
              <a:rPr lang="en-US" sz="1200" dirty="0"/>
              <a:t>Receive support in dispute resolution, legal matters, and industry challenges.</a:t>
            </a:r>
          </a:p>
          <a:p>
            <a:endParaRPr lang="en-US" b="1" dirty="0" smtClean="0"/>
          </a:p>
          <a:p>
            <a:endParaRPr lang="en-US" dirty="0" smtClean="0"/>
          </a:p>
        </p:txBody>
      </p:sp>
    </p:spTree>
    <p:extLst>
      <p:ext uri="{BB962C8B-B14F-4D97-AF65-F5344CB8AC3E}">
        <p14:creationId xmlns:p14="http://schemas.microsoft.com/office/powerpoint/2010/main" val="24088523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17870" y="232613"/>
            <a:ext cx="10869769" cy="5816977"/>
          </a:xfrm>
          <a:prstGeom prst="rect">
            <a:avLst/>
          </a:prstGeom>
          <a:noFill/>
        </p:spPr>
        <p:txBody>
          <a:bodyPr wrap="square" rtlCol="0">
            <a:spAutoFit/>
          </a:bodyPr>
          <a:lstStyle/>
          <a:p>
            <a:r>
              <a:rPr lang="en-US" b="1" dirty="0" smtClean="0"/>
              <a:t>1. Advertiser Benefit:</a:t>
            </a:r>
          </a:p>
          <a:p>
            <a:endParaRPr lang="en-US" dirty="0" smtClean="0"/>
          </a:p>
          <a:p>
            <a:r>
              <a:rPr lang="en-US" sz="1600" dirty="0" smtClean="0"/>
              <a:t>Any </a:t>
            </a:r>
            <a:r>
              <a:rPr lang="en-US" sz="1600" dirty="0"/>
              <a:t>company that is involved in the design, planning, or media buying of OOH – including advertisers, ad agencies, and media buying services – can take advantage of comprehensive service and support, including</a:t>
            </a:r>
            <a:r>
              <a:rPr lang="en-US" sz="1600" dirty="0" smtClean="0"/>
              <a:t>:</a:t>
            </a:r>
          </a:p>
          <a:p>
            <a:endParaRPr lang="en-US" sz="1600" dirty="0"/>
          </a:p>
          <a:p>
            <a:r>
              <a:rPr lang="en-US" sz="1600" b="1" dirty="0"/>
              <a:t>Marketing </a:t>
            </a:r>
            <a:r>
              <a:rPr lang="en-US" sz="1600" b="1" dirty="0" smtClean="0"/>
              <a:t>Research</a:t>
            </a:r>
            <a:endParaRPr lang="en-US" sz="1600" dirty="0" smtClean="0"/>
          </a:p>
          <a:p>
            <a:pPr lvl="1"/>
            <a:endParaRPr lang="en-US" sz="1600" b="1" dirty="0"/>
          </a:p>
          <a:p>
            <a:pPr lvl="1"/>
            <a:r>
              <a:rPr lang="en-US" sz="1600" b="1" dirty="0" smtClean="0"/>
              <a:t>OOH </a:t>
            </a:r>
            <a:r>
              <a:rPr lang="en-US" sz="1600" b="1" dirty="0"/>
              <a:t>Studies – </a:t>
            </a:r>
            <a:r>
              <a:rPr lang="en-US" sz="1600" dirty="0"/>
              <a:t>the most extensive OOH research library available on the value of OOH and how it amplifies other media investments. ROI research shows how OOH competes with TV, and outperforms radio, print, and digital display, and significantly boosts the ROI of search. Nielsen’s online activation survey reveals OOH drives online activity much more efficiently than any other offline media channel and banner </a:t>
            </a:r>
            <a:r>
              <a:rPr lang="en-US" sz="1600" dirty="0" smtClean="0"/>
              <a:t>ads</a:t>
            </a:r>
          </a:p>
          <a:p>
            <a:pPr lvl="1"/>
            <a:endParaRPr lang="en-US" sz="1600" dirty="0"/>
          </a:p>
          <a:p>
            <a:pPr lvl="1"/>
            <a:r>
              <a:rPr lang="en-US" sz="1600" b="1" dirty="0"/>
              <a:t>Demographic Reports</a:t>
            </a:r>
            <a:r>
              <a:rPr lang="en-US" sz="1600" dirty="0"/>
              <a:t> – insights into customized </a:t>
            </a:r>
            <a:r>
              <a:rPr lang="en-US" sz="1600" dirty="0" smtClean="0"/>
              <a:t>geographies (Karachi Metropolitan, Sindh Urban &amp; Rural Areas) and </a:t>
            </a:r>
            <a:r>
              <a:rPr lang="en-US" sz="1600" dirty="0"/>
              <a:t>key demographics such as age, gender, </a:t>
            </a:r>
            <a:r>
              <a:rPr lang="en-US" sz="1600" dirty="0" smtClean="0"/>
              <a:t>race/ethnicity, </a:t>
            </a:r>
            <a:r>
              <a:rPr lang="en-US" sz="1600" dirty="0"/>
              <a:t>education, marital status, population density, and much more.</a:t>
            </a:r>
          </a:p>
          <a:p>
            <a:endParaRPr lang="en-US" sz="1600" b="1" dirty="0" smtClean="0"/>
          </a:p>
          <a:p>
            <a:r>
              <a:rPr lang="en-US" sz="1600" b="1" dirty="0" smtClean="0"/>
              <a:t>National </a:t>
            </a:r>
            <a:r>
              <a:rPr lang="en-US" sz="1600" b="1" dirty="0"/>
              <a:t>Conference + Expo </a:t>
            </a:r>
            <a:r>
              <a:rPr lang="en-US" sz="1600" dirty="0"/>
              <a:t>– this major annual industry event delivers the latest insights on the exciting evolution and potential of OOH media in the digital age. Loaded with thought-provoking speakers and programs, the conference also offers endless networking opportunities with key industry decision makers</a:t>
            </a:r>
            <a:r>
              <a:rPr lang="en-US" sz="1600" dirty="0" smtClean="0"/>
              <a:t>.</a:t>
            </a:r>
          </a:p>
          <a:p>
            <a:endParaRPr lang="en-US" sz="1600" dirty="0"/>
          </a:p>
          <a:p>
            <a:r>
              <a:rPr lang="en-US" sz="1600" b="1" dirty="0"/>
              <a:t>OOH Education </a:t>
            </a:r>
            <a:r>
              <a:rPr lang="en-US" sz="1600" dirty="0"/>
              <a:t>– this downloadable OOH capabilities presentation is designed for ad agencies but can easily be customized for direct client usage. It covers the state of the industry, the latest consumer research, reviews outstanding creative examples and highlights time-saving tools like the OOH media locator, SQAD for OOH, the Planning for OOH Media Guide, and much more. We even offer in-person OOH education directly to your team</a:t>
            </a:r>
            <a:r>
              <a:rPr lang="en-US" sz="1600" dirty="0" smtClean="0"/>
              <a:t>.</a:t>
            </a:r>
            <a:endParaRPr lang="en-US" sz="1600" dirty="0"/>
          </a:p>
        </p:txBody>
      </p:sp>
    </p:spTree>
    <p:extLst>
      <p:ext uri="{BB962C8B-B14F-4D97-AF65-F5344CB8AC3E}">
        <p14:creationId xmlns:p14="http://schemas.microsoft.com/office/powerpoint/2010/main" val="3165493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1029</TotalTime>
  <Words>1270</Words>
  <Application>Microsoft Office PowerPoint</Application>
  <PresentationFormat>Widescreen</PresentationFormat>
  <Paragraphs>282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49</cp:revision>
  <dcterms:created xsi:type="dcterms:W3CDTF">2025-07-18T16:27:04Z</dcterms:created>
  <dcterms:modified xsi:type="dcterms:W3CDTF">2026-04-06T15:10:02Z</dcterms:modified>
</cp:coreProperties>
</file>